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bold r:id="rId18"/>
      <p:boldItalic r:id="rId19"/>
    </p:embeddedFont>
    <p:embeddedFont>
      <p:font typeface="Roboto Medium"/>
      <p:regular r:id="rId20"/>
      <p:bold r:id="rId21"/>
      <p:italic r:id="rId22"/>
      <p:boldItalic r:id="rId23"/>
    </p:embeddedFont>
    <p:embeddedFont>
      <p:font typeface="JetBrains Mono SemiBold"/>
      <p:regular r:id="rId24"/>
      <p:bold r:id="rId25"/>
      <p:italic r:id="rId26"/>
      <p:boldItalic r:id="rId27"/>
    </p:embeddedFont>
    <p:embeddedFont>
      <p:font typeface="Open Sans SemiBold"/>
      <p:regular r:id="rId28"/>
      <p:bold r:id="rId29"/>
      <p:italic r:id="rId30"/>
      <p:boldItalic r:id="rId31"/>
    </p:embeddedFont>
    <p:embeddedFont>
      <p:font typeface="Open Sans Medium"/>
      <p:regular r:id="rId32"/>
      <p:bold r:id="rId33"/>
      <p:italic r:id="rId34"/>
      <p:boldItalic r:id="rId35"/>
    </p:embeddedFont>
    <p:embeddedFont>
      <p:font typeface="JetBrains Mono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font" Target="fonts/RobotoMedium-regular.fntdata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43" Type="http://schemas.openxmlformats.org/officeDocument/2006/relationships/font" Target="fonts/OpenSans-boldItalic.fntdata"/><Relationship Id="rId24" Type="http://schemas.openxmlformats.org/officeDocument/2006/relationships/font" Target="fonts/JetBrainsMonoSemiBold-regular.fntdata"/><Relationship Id="rId23" Type="http://schemas.openxmlformats.org/officeDocument/2006/relationships/font" Target="fonts/Roboto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SemiBold-italic.fntdata"/><Relationship Id="rId25" Type="http://schemas.openxmlformats.org/officeDocument/2006/relationships/font" Target="fonts/JetBrainsMonoSemiBold-bold.fntdata"/><Relationship Id="rId28" Type="http://schemas.openxmlformats.org/officeDocument/2006/relationships/font" Target="fonts/OpenSansSemiBold-regular.fntdata"/><Relationship Id="rId27" Type="http://schemas.openxmlformats.org/officeDocument/2006/relationships/font" Target="fonts/JetBrainsMono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SemiBold-boldItalic.fntdata"/><Relationship Id="rId30" Type="http://schemas.openxmlformats.org/officeDocument/2006/relationships/font" Target="fonts/OpenSansSemiBold-italic.fntdata"/><Relationship Id="rId11" Type="http://schemas.openxmlformats.org/officeDocument/2006/relationships/slide" Target="slides/slide6.xml"/><Relationship Id="rId33" Type="http://schemas.openxmlformats.org/officeDocument/2006/relationships/font" Target="fonts/OpenSansMedium-bold.fntdata"/><Relationship Id="rId10" Type="http://schemas.openxmlformats.org/officeDocument/2006/relationships/slide" Target="slides/slide5.xml"/><Relationship Id="rId32" Type="http://schemas.openxmlformats.org/officeDocument/2006/relationships/font" Target="fonts/OpenSa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Medium-italic.fntdata"/><Relationship Id="rId15" Type="http://schemas.openxmlformats.org/officeDocument/2006/relationships/slide" Target="slides/slide10.xml"/><Relationship Id="rId37" Type="http://schemas.openxmlformats.org/officeDocument/2006/relationships/font" Target="fonts/JetBrainsMono-bold.fntdata"/><Relationship Id="rId14" Type="http://schemas.openxmlformats.org/officeDocument/2006/relationships/slide" Target="slides/slide9.xml"/><Relationship Id="rId36" Type="http://schemas.openxmlformats.org/officeDocument/2006/relationships/font" Target="fonts/JetBrainsMono-regular.fntdata"/><Relationship Id="rId17" Type="http://schemas.openxmlformats.org/officeDocument/2006/relationships/slide" Target="slides/slide12.xml"/><Relationship Id="rId39" Type="http://schemas.openxmlformats.org/officeDocument/2006/relationships/font" Target="fonts/JetBrainsMono-boldItalic.fntdata"/><Relationship Id="rId16" Type="http://schemas.openxmlformats.org/officeDocument/2006/relationships/slide" Target="slides/slide11.xml"/><Relationship Id="rId38" Type="http://schemas.openxmlformats.org/officeDocument/2006/relationships/font" Target="fonts/JetBrainsMono-italic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71ad32719a312b46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71ad32719a312b46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71ad32719a312b46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71ad32719a312b46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71ad32719a312b46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71ad32719a312b46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71ad32719a312b46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71ad32719a312b46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71ad32719a312b46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71ad32719a312b46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71ad32719a312b46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h71ad32719a312b46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71ad32719a312b46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h71ad32719a312b46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71ad32719a312b46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h71ad32719a312b46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h71ad32719a312b46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h71ad32719a312b46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71ad32719a312b46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h71ad32719a312b46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71ad32719a312b46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h71ad32719a312b46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71ad32719a312b46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h71ad32719a312b46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71ad32719a312b46_14_0)">
  <p:cSld name="Generated (h71ad32719a312b46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" name="Google Shape;5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" y="9525"/>
              <a:ext cx="8877300" cy="48768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8" name="Google Shape;58;p14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9" name="Google Shape;59;p14"/>
            <p:cNvGrpSpPr/>
            <p:nvPr/>
          </p:nvGrpSpPr>
          <p:grpSpPr>
            <a:xfrm>
              <a:off x="323850" y="381000"/>
              <a:ext cx="114300" cy="114300"/>
              <a:chOff x="0" y="0"/>
              <a:chExt cx="114300" cy="114300"/>
            </a:xfrm>
          </p:grpSpPr>
          <p:cxnSp>
            <p:nvCxnSpPr>
              <p:cNvPr id="60" name="Google Shape;60;p14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14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2" name="Google Shape;62;p14"/>
            <p:cNvGrpSpPr/>
            <p:nvPr/>
          </p:nvGrpSpPr>
          <p:grpSpPr>
            <a:xfrm>
              <a:off x="323850" y="4762500"/>
              <a:ext cx="114300" cy="114300"/>
              <a:chOff x="0" y="0"/>
              <a:chExt cx="114300" cy="114300"/>
            </a:xfrm>
          </p:grpSpPr>
          <p:cxnSp>
            <p:nvCxnSpPr>
              <p:cNvPr id="63" name="Google Shape;63;p14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14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5" name="Google Shape;65;p14"/>
            <p:cNvGrpSpPr/>
            <p:nvPr/>
          </p:nvGrpSpPr>
          <p:grpSpPr>
            <a:xfrm>
              <a:off x="571500" y="4757738"/>
              <a:ext cx="8382000" cy="290513"/>
              <a:chOff x="0" y="-4762"/>
              <a:chExt cx="8382000" cy="290513"/>
            </a:xfrm>
          </p:grpSpPr>
          <p:pic>
            <p:nvPicPr>
              <p:cNvPr id="66" name="Google Shape;66;p1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-4762"/>
                <a:ext cx="8343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" name="Google Shape;67;p14"/>
              <p:cNvSpPr txBox="1"/>
              <p:nvPr/>
            </p:nvSpPr>
            <p:spPr>
              <a:xfrm>
                <a:off x="0" y="9525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VISHWAKARMA INSTITUTE OF TECHNOLOGY | PUNE, INDIA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68" name="Google Shape;68;p14"/>
              <p:cNvSpPr txBox="1"/>
              <p:nvPr/>
            </p:nvSpPr>
            <p:spPr>
              <a:xfrm>
                <a:off x="6477000" y="9525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PHYSICS-INFORMED DIGITAL TWIN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</p:grpSp>
      <p:sp>
        <p:nvSpPr>
          <p:cNvPr id="69" name="Google Shape;69;p14"/>
          <p:cNvSpPr txBox="1"/>
          <p:nvPr/>
        </p:nvSpPr>
        <p:spPr>
          <a:xfrm>
            <a:off x="762000" y="762000"/>
            <a:ext cx="7620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284C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RESEARCH PRESENTATION</a:t>
            </a:r>
            <a:endParaRPr b="0" sz="1000">
              <a:solidFill>
                <a:srgbClr val="0284C7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62000" y="1190625"/>
            <a:ext cx="7810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Physics-Informed Digital Twin</a:t>
            </a:r>
            <a:endParaRPr b="1" sz="32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for Data-Center Cooling Maintenance</a:t>
            </a:r>
            <a:endParaRPr b="1" sz="32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" name="Google Shape;71;p14"/>
          <p:cNvCxnSpPr/>
          <p:nvPr/>
        </p:nvCxnSpPr>
        <p:spPr>
          <a:xfrm>
            <a:off x="762000" y="3048000"/>
            <a:ext cx="28575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" name="Google Shape;72;p14"/>
          <p:cNvGrpSpPr/>
          <p:nvPr/>
        </p:nvGrpSpPr>
        <p:grpSpPr>
          <a:xfrm>
            <a:off x="762000" y="3333750"/>
            <a:ext cx="5524500" cy="1047900"/>
            <a:chOff x="0" y="0"/>
            <a:chExt cx="5524500" cy="1047900"/>
          </a:xfrm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55245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" name="Google Shape;74;p14"/>
            <p:cNvGrpSpPr/>
            <p:nvPr/>
          </p:nvGrpSpPr>
          <p:grpSpPr>
            <a:xfrm>
              <a:off x="5295900" y="95250"/>
              <a:ext cx="114300" cy="114300"/>
              <a:chOff x="0" y="0"/>
              <a:chExt cx="114300" cy="114300"/>
            </a:xfrm>
          </p:grpSpPr>
          <p:cxnSp>
            <p:nvCxnSpPr>
              <p:cNvPr id="75" name="Google Shape;75;p14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14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7" name="Google Shape;77;p14"/>
            <p:cNvSpPr/>
            <p:nvPr/>
          </p:nvSpPr>
          <p:spPr>
            <a:xfrm>
              <a:off x="190500" y="238125"/>
              <a:ext cx="571500" cy="571500"/>
            </a:xfrm>
            <a:prstGeom prst="ellipse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90500" y="238125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AD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904875" y="190500"/>
              <a:ext cx="4381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Anup Deshmukh</a:t>
              </a:r>
              <a:endParaRPr b="1" sz="15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Department of Instrumentation and Control Engineering</a:t>
              </a:r>
              <a:endParaRPr b="0" sz="110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Open Sans"/>
                  <a:ea typeface="Open Sans"/>
                  <a:cs typeface="Open Sans"/>
                  <a:sym typeface="Open Sans"/>
                </a:rPr>
                <a:t>Vishwakarma Institute of Technology, Pune, India</a:t>
              </a:r>
              <a:endParaRPr b="0" sz="1000">
                <a:solidFill>
                  <a:srgbClr val="0284C7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15"/>
          <p:cNvGrpSpPr/>
          <p:nvPr/>
        </p:nvGrpSpPr>
        <p:grpSpPr>
          <a:xfrm>
            <a:off x="381000" y="4757738"/>
            <a:ext cx="8382000" cy="290513"/>
            <a:chOff x="0" y="-4762"/>
            <a:chExt cx="8382000" cy="290513"/>
          </a:xfrm>
        </p:grpSpPr>
        <p:pic>
          <p:nvPicPr>
            <p:cNvPr id="86" name="Google Shape;8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-4762"/>
              <a:ext cx="834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5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VISHWAKARMA INSTITUTE OF TECHNOLOGY | PUNE, INDIA</a:t>
              </a:r>
              <a:endParaRPr b="0" sz="800">
                <a:solidFill>
                  <a:srgbClr val="47556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647700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PHYSICS-INFORMED DIGITAL TWIN</a:t>
              </a:r>
              <a:endParaRPr b="0" sz="800">
                <a:solidFill>
                  <a:srgbClr val="47556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381000" y="381000"/>
            <a:ext cx="8382000" cy="724050"/>
            <a:chOff x="0" y="0"/>
            <a:chExt cx="8382000" cy="724050"/>
          </a:xfrm>
        </p:grpSpPr>
        <p:sp>
          <p:nvSpPr>
            <p:cNvPr id="90" name="Google Shape;90;p15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Addressing Silent Cooling Degradation in Data Centers</a:t>
              </a:r>
              <a:endParaRPr b="1" sz="2405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0" y="4381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Unmonitored mechanical capacity loss creates critical thermal vulnerabilities</a:t>
              </a:r>
              <a:endParaRPr b="0" sz="1800">
                <a:solidFill>
                  <a:srgbClr val="0284C7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381000" y="1238250"/>
            <a:ext cx="8382000" cy="1143000"/>
            <a:chOff x="0" y="0"/>
            <a:chExt cx="8382000" cy="1143000"/>
          </a:xfrm>
        </p:grpSpPr>
        <p:sp>
          <p:nvSpPr>
            <p:cNvPr id="93" name="Google Shape;93;p15"/>
            <p:cNvSpPr/>
            <p:nvPr/>
          </p:nvSpPr>
          <p:spPr>
            <a:xfrm>
              <a:off x="0" y="0"/>
              <a:ext cx="8382000" cy="1143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0" y="0"/>
              <a:ext cx="57300" cy="1143000"/>
            </a:xfrm>
            <a:prstGeom prst="roundRect">
              <a:avLst>
                <a:gd fmla="val 33333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" name="Google Shape;95;p15"/>
            <p:cNvGrpSpPr/>
            <p:nvPr/>
          </p:nvGrpSpPr>
          <p:grpSpPr>
            <a:xfrm>
              <a:off x="8153400" y="95250"/>
              <a:ext cx="114300" cy="114300"/>
              <a:chOff x="0" y="0"/>
              <a:chExt cx="114300" cy="114300"/>
            </a:xfrm>
          </p:grpSpPr>
          <p:cxnSp>
            <p:nvCxnSpPr>
              <p:cNvPr id="96" name="Google Shape;96;p15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15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98" name="Google Shape;98;p15"/>
            <p:cNvSpPr txBox="1"/>
            <p:nvPr/>
          </p:nvSpPr>
          <p:spPr>
            <a:xfrm>
              <a:off x="228600" y="152400"/>
              <a:ext cx="790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CORE INDUSTRY CHALLENGE</a:t>
              </a:r>
              <a:endParaRPr b="0" sz="1000">
                <a:solidFill>
                  <a:srgbClr val="0284C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228600" y="400050"/>
              <a:ext cx="7905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275">
                  <a:solidFill>
                    <a:srgbClr val="0F172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"As rotating machinery like chilled-water pumps and CRAC fans degrade, their cooling capacity gradually falls—a silent failure mode that bypasses standard operational thresholds until thermal safety margins are completely exhausted."</a:t>
              </a:r>
              <a:endParaRPr b="0" i="1" sz="1275">
                <a:solidFill>
                  <a:srgbClr val="0F172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381000" y="2571750"/>
            <a:ext cx="4000500" cy="1952700"/>
            <a:chOff x="0" y="0"/>
            <a:chExt cx="4000500" cy="1952700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4000500" cy="1952700"/>
            </a:xfrm>
            <a:prstGeom prst="roundRect">
              <a:avLst>
                <a:gd fmla="val 1951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" name="Google Shape;102;p15"/>
            <p:cNvGrpSpPr/>
            <p:nvPr/>
          </p:nvGrpSpPr>
          <p:grpSpPr>
            <a:xfrm>
              <a:off x="3790950" y="95250"/>
              <a:ext cx="114300" cy="114300"/>
              <a:chOff x="0" y="0"/>
              <a:chExt cx="114300" cy="114300"/>
            </a:xfrm>
          </p:grpSpPr>
          <p:cxnSp>
            <p:nvCxnSpPr>
              <p:cNvPr id="103" name="Google Shape;103;p15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5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05" name="Google Shape;105;p15"/>
            <p:cNvSpPr txBox="1"/>
            <p:nvPr/>
          </p:nvSpPr>
          <p:spPr>
            <a:xfrm>
              <a:off x="228600" y="190500"/>
              <a:ext cx="3543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COOLING LOAD &amp; MECHANICS</a:t>
              </a:r>
              <a:endParaRPr b="0" sz="1000">
                <a:solidFill>
                  <a:srgbClr val="0284C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228600" y="457200"/>
              <a:ext cx="35433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High Electrical Consumption:</a:t>
              </a:r>
              <a:r>
                <a:rPr b="0" lang="en" sz="111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Cooling accounts for a massive share of total data center power draw.</a:t>
              </a:r>
              <a:endParaRPr b="0" sz="111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Rotating Machinery Drivers:</a:t>
              </a:r>
              <a:r>
                <a:rPr b="0" lang="en" sz="111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Primary load is driven by chilled-water pumps and CRAC fan units.</a:t>
              </a:r>
              <a:endParaRPr b="0" sz="111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Progressive Wear:</a:t>
              </a:r>
              <a:r>
                <a:rPr b="0" lang="en" sz="111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Continuous operation leads to mechanical degradation and gradual capacity decline.</a:t>
              </a:r>
              <a:endParaRPr b="0" sz="111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4572000" y="2571750"/>
            <a:ext cx="4191000" cy="1952700"/>
            <a:chOff x="0" y="0"/>
            <a:chExt cx="4191000" cy="1952700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4191000" cy="1952700"/>
            </a:xfrm>
            <a:prstGeom prst="roundRect">
              <a:avLst>
                <a:gd fmla="val 1951" name="adj"/>
              </a:avLst>
            </a:prstGeom>
            <a:solidFill>
              <a:srgbClr val="FFF7ED"/>
            </a:solidFill>
            <a:ln cap="flat" cmpd="sng" w="9525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0" y="0"/>
              <a:ext cx="57300" cy="1952700"/>
            </a:xfrm>
            <a:prstGeom prst="roundRect">
              <a:avLst>
                <a:gd fmla="val 33333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228600" y="190500"/>
              <a:ext cx="373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CRITICAL THRESHOLD ALARM LIMITATION</a:t>
              </a:r>
              <a:endParaRPr b="0" sz="1000">
                <a:solidFill>
                  <a:srgbClr val="EA580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228600" y="457200"/>
              <a:ext cx="3733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5">
                  <a:solidFill>
                    <a:srgbClr val="EA580C"/>
                  </a:solidFill>
                  <a:latin typeface="Open Sans"/>
                  <a:ea typeface="Open Sans"/>
                  <a:cs typeface="Open Sans"/>
                  <a:sym typeface="Open Sans"/>
                </a:rPr>
                <a:t>Immediate IT Equipment Risk</a:t>
              </a:r>
              <a:endParaRPr b="1" sz="1105">
                <a:solidFill>
                  <a:srgbClr val="EA580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Standard threshold alarms on server inlet temperatures only fire </a:t>
              </a:r>
              <a:r>
                <a:rPr b="1" lang="en" sz="102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after the thermal margin has been entirely consumed</a:t>
              </a:r>
              <a:r>
                <a:rPr b="0" lang="en" sz="102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endParaRPr b="0" sz="102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This latent detection model eliminates warning lead times, placing critical compute infrastructure at immediate thermal risk.</a:t>
              </a:r>
              <a:endParaRPr b="0" sz="102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6"/>
            <p:cNvGrpSpPr/>
            <p:nvPr/>
          </p:nvGrpSpPr>
          <p:grpSpPr>
            <a:xfrm>
              <a:off x="381000" y="4757738"/>
              <a:ext cx="8382000" cy="290513"/>
              <a:chOff x="0" y="-4762"/>
              <a:chExt cx="8382000" cy="290513"/>
            </a:xfrm>
          </p:grpSpPr>
          <p:pic>
            <p:nvPicPr>
              <p:cNvPr id="119" name="Google Shape;119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-4762"/>
                <a:ext cx="8343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" name="Google Shape;120;p16"/>
              <p:cNvSpPr txBox="1"/>
              <p:nvPr/>
            </p:nvSpPr>
            <p:spPr>
              <a:xfrm>
                <a:off x="0" y="9525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VISHWAKARMA INSTITUTE OF TECHNOLOGY | PUNE, INDIA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6477000" y="9525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PHYSICS-INFORMED DIGITAL TWIN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</p:grpSp>
      <p:grpSp>
        <p:nvGrpSpPr>
          <p:cNvPr id="122" name="Google Shape;122;p16"/>
          <p:cNvGrpSpPr/>
          <p:nvPr/>
        </p:nvGrpSpPr>
        <p:grpSpPr>
          <a:xfrm>
            <a:off x="381000" y="381000"/>
            <a:ext cx="8382000" cy="714525"/>
            <a:chOff x="0" y="0"/>
            <a:chExt cx="8382000" cy="714525"/>
          </a:xfrm>
        </p:grpSpPr>
        <p:sp>
          <p:nvSpPr>
            <p:cNvPr id="123" name="Google Shape;123;p16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Research Gaps in Cooling Machinery Diagnostics &amp; Prognostics</a:t>
              </a:r>
              <a:endParaRPr b="1" sz="222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0" y="428625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Current condition-based maintenance approaches suffer from three primary gaps:</a:t>
              </a:r>
              <a:endParaRPr b="0" sz="1400">
                <a:solidFill>
                  <a:srgbClr val="0284C7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381000" y="1238250"/>
            <a:ext cx="8382000" cy="3238500"/>
            <a:chOff x="0" y="0"/>
            <a:chExt cx="8382000" cy="3238500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8382000" cy="3238500"/>
            </a:xfrm>
            <a:prstGeom prst="roundRect">
              <a:avLst>
                <a:gd fmla="val 11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7" name="Google Shape;127;p16"/>
            <p:cNvGrpSpPr/>
            <p:nvPr/>
          </p:nvGrpSpPr>
          <p:grpSpPr>
            <a:xfrm>
              <a:off x="8191500" y="76200"/>
              <a:ext cx="114300" cy="114300"/>
              <a:chOff x="0" y="0"/>
              <a:chExt cx="114300" cy="114300"/>
            </a:xfrm>
          </p:grpSpPr>
          <p:cxnSp>
            <p:nvCxnSpPr>
              <p:cNvPr id="128" name="Google Shape;128;p16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6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30" name="Google Shape;130;p16"/>
            <p:cNvGrpSpPr/>
            <p:nvPr/>
          </p:nvGrpSpPr>
          <p:grpSpPr>
            <a:xfrm>
              <a:off x="285750" y="238125"/>
              <a:ext cx="7810500" cy="2629050"/>
              <a:chOff x="0" y="0"/>
              <a:chExt cx="7810500" cy="2629050"/>
            </a:xfrm>
          </p:grpSpPr>
          <p:cxnSp>
            <p:nvCxnSpPr>
              <p:cNvPr id="131" name="Google Shape;131;p16"/>
              <p:cNvCxnSpPr/>
              <p:nvPr/>
            </p:nvCxnSpPr>
            <p:spPr>
              <a:xfrm>
                <a:off x="0" y="0"/>
                <a:ext cx="7810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2" name="Google Shape;132;p16"/>
              <p:cNvSpPr txBox="1"/>
              <p:nvPr/>
            </p:nvSpPr>
            <p:spPr>
              <a:xfrm>
                <a:off x="0" y="152400"/>
                <a:ext cx="7810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Unimodal Blind Spots</a:t>
                </a:r>
                <a:endParaRPr b="0" sz="13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Vibration-only and current-only diagnoses each miss specific fault classes that the other modality could expose.</a:t>
                </a:r>
                <a:endParaRPr b="0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pic>
            <p:nvPicPr>
              <p:cNvPr id="133" name="Google Shape;133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900113"/>
                <a:ext cx="7810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" name="Google Shape;134;p16"/>
              <p:cNvSpPr txBox="1"/>
              <p:nvPr/>
            </p:nvSpPr>
            <p:spPr>
              <a:xfrm>
                <a:off x="0" y="1057275"/>
                <a:ext cx="7810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Disconnected Metrics</a:t>
                </a:r>
                <a:endParaRPr b="0" sz="13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Machine health indicators are rarely translated into server temperature, which is the actual metric operators must protect.</a:t>
                </a:r>
                <a:endParaRPr b="0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pic>
            <p:nvPicPr>
              <p:cNvPr id="135" name="Google Shape;135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1804988"/>
                <a:ext cx="7810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6" name="Google Shape;136;p16"/>
              <p:cNvSpPr txBox="1"/>
              <p:nvPr/>
            </p:nvSpPr>
            <p:spPr>
              <a:xfrm>
                <a:off x="0" y="1962150"/>
                <a:ext cx="7810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Unverified Benefits</a:t>
                </a:r>
                <a:endParaRPr b="0" sz="13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The advantage of predictive over reactive maintenance is frequently asserted rather than explicitly measured on a common degradation trajectory.</a:t>
                </a:r>
                <a:endParaRPr b="0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2" name="Google Shape;142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3" name="Google Shape;14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" y="9525"/>
              <a:ext cx="8877300" cy="4876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4" name="Google Shape;144;p17"/>
            <p:cNvGrpSpPr/>
            <p:nvPr/>
          </p:nvGrpSpPr>
          <p:grpSpPr>
            <a:xfrm>
              <a:off x="190500" y="190500"/>
              <a:ext cx="114300" cy="114300"/>
              <a:chOff x="0" y="0"/>
              <a:chExt cx="114300" cy="114300"/>
            </a:xfrm>
          </p:grpSpPr>
          <p:cxnSp>
            <p:nvCxnSpPr>
              <p:cNvPr id="145" name="Google Shape;145;p17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7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7" name="Google Shape;147;p17"/>
            <p:cNvGrpSpPr/>
            <p:nvPr/>
          </p:nvGrpSpPr>
          <p:grpSpPr>
            <a:xfrm>
              <a:off x="8839200" y="190500"/>
              <a:ext cx="114300" cy="114300"/>
              <a:chOff x="0" y="0"/>
              <a:chExt cx="114300" cy="114300"/>
            </a:xfrm>
          </p:grpSpPr>
          <p:cxnSp>
            <p:nvCxnSpPr>
              <p:cNvPr id="148" name="Google Shape;148;p17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p17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0" name="Google Shape;150;p17"/>
            <p:cNvGrpSpPr/>
            <p:nvPr/>
          </p:nvGrpSpPr>
          <p:grpSpPr>
            <a:xfrm>
              <a:off x="190500" y="4838700"/>
              <a:ext cx="114300" cy="114300"/>
              <a:chOff x="0" y="0"/>
              <a:chExt cx="114300" cy="114300"/>
            </a:xfrm>
          </p:grpSpPr>
          <p:cxnSp>
            <p:nvCxnSpPr>
              <p:cNvPr id="151" name="Google Shape;151;p17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2" name="Google Shape;152;p17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3" name="Google Shape;153;p17"/>
            <p:cNvGrpSpPr/>
            <p:nvPr/>
          </p:nvGrpSpPr>
          <p:grpSpPr>
            <a:xfrm>
              <a:off x="8839200" y="4838700"/>
              <a:ext cx="114300" cy="114300"/>
              <a:chOff x="0" y="0"/>
              <a:chExt cx="114300" cy="114300"/>
            </a:xfrm>
          </p:grpSpPr>
          <p:cxnSp>
            <p:nvCxnSpPr>
              <p:cNvPr id="154" name="Google Shape;154;p17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17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56" name="Google Shape;156;p17"/>
          <p:cNvGrpSpPr/>
          <p:nvPr/>
        </p:nvGrpSpPr>
        <p:grpSpPr>
          <a:xfrm>
            <a:off x="381000" y="333375"/>
            <a:ext cx="8382000" cy="781050"/>
            <a:chOff x="0" y="0"/>
            <a:chExt cx="8382000" cy="781050"/>
          </a:xfrm>
        </p:grpSpPr>
        <p:sp>
          <p:nvSpPr>
            <p:cNvPr id="157" name="Google Shape;157;p17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Digital Twin System Architecture &amp; Processing Chain</a:t>
              </a:r>
              <a:endParaRPr b="1" sz="24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0" y="40005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Evaluates specific operating points using reduced-order models and multimodal data fusion</a:t>
              </a:r>
              <a:endParaRPr b="0" sz="1400">
                <a:solidFill>
                  <a:srgbClr val="0284C7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381000" y="952500"/>
            <a:ext cx="2571900" cy="3714900"/>
            <a:chOff x="0" y="0"/>
            <a:chExt cx="2571900" cy="3714900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2571900" cy="3714900"/>
            </a:xfrm>
            <a:prstGeom prst="roundRect">
              <a:avLst>
                <a:gd fmla="val 1481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152400" y="152400"/>
              <a:ext cx="2267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STEP 01: OPERATING POINT</a:t>
              </a:r>
              <a:endParaRPr b="0" sz="1000">
                <a:solidFill>
                  <a:srgbClr val="EA580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cxnSp>
          <p:nvCxnSpPr>
            <p:cNvPr id="162" name="Google Shape;162;p17"/>
            <p:cNvCxnSpPr/>
            <p:nvPr/>
          </p:nvCxnSpPr>
          <p:spPr>
            <a:xfrm>
              <a:off x="152400" y="400050"/>
              <a:ext cx="22671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" name="Google Shape;163;p17"/>
            <p:cNvSpPr txBox="1"/>
            <p:nvPr/>
          </p:nvSpPr>
          <p:spPr>
            <a:xfrm>
              <a:off x="152400" y="495300"/>
              <a:ext cx="22671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Evaluates Specific Operating Points</a:t>
              </a:r>
              <a:endParaRPr b="0" sz="1000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The digital twin utilizes a comprehensive processing chain that evaluates each specific operating condition in real time.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Synthetic Signal Generation</a:t>
              </a:r>
              <a:endParaRPr b="0" sz="1000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For every step, it generates synthetic signals based on reduced-order models: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Synthetic vibration signals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Synthetic current signals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3190875" y="952500"/>
            <a:ext cx="2571900" cy="3714900"/>
            <a:chOff x="0" y="0"/>
            <a:chExt cx="2571900" cy="3714900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0"/>
              <a:ext cx="2571900" cy="3714900"/>
            </a:xfrm>
            <a:prstGeom prst="roundRect">
              <a:avLst>
                <a:gd fmla="val 1481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152400" y="152400"/>
              <a:ext cx="2267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STEP 02: CONDITIONING &amp; FUSION</a:t>
              </a:r>
              <a:endParaRPr b="0" sz="925">
                <a:solidFill>
                  <a:srgbClr val="EA580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cxnSp>
          <p:nvCxnSpPr>
            <p:cNvPr id="167" name="Google Shape;167;p17"/>
            <p:cNvCxnSpPr/>
            <p:nvPr/>
          </p:nvCxnSpPr>
          <p:spPr>
            <a:xfrm>
              <a:off x="152400" y="400050"/>
              <a:ext cx="22671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" name="Google Shape;168;p17"/>
            <p:cNvSpPr txBox="1"/>
            <p:nvPr/>
          </p:nvSpPr>
          <p:spPr>
            <a:xfrm>
              <a:off x="152400" y="495300"/>
              <a:ext cx="22671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Multimodal Signal Processing</a:t>
              </a:r>
              <a:endParaRPr b="0" sz="1000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The generated raw synthetic streams undergo rigorous multi-stage preparation: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1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Conditioned:</a:t>
              </a: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Filtered and normalized for feature extraction.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1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Segmented:</a:t>
              </a: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Divided into time-bound processing windows.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Data Fusion Strategy</a:t>
              </a:r>
              <a:endParaRPr b="0" sz="1000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Conditioned &amp; segmented signals are fused directly with real-time operating-state variables to form unified feature vectors.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9" name="Google Shape;169;p17"/>
          <p:cNvGrpSpPr/>
          <p:nvPr/>
        </p:nvGrpSpPr>
        <p:grpSpPr>
          <a:xfrm>
            <a:off x="6000750" y="952500"/>
            <a:ext cx="2762400" cy="3714900"/>
            <a:chOff x="0" y="0"/>
            <a:chExt cx="2762400" cy="3714900"/>
          </a:xfrm>
        </p:grpSpPr>
        <p:sp>
          <p:nvSpPr>
            <p:cNvPr id="170" name="Google Shape;170;p17"/>
            <p:cNvSpPr/>
            <p:nvPr/>
          </p:nvSpPr>
          <p:spPr>
            <a:xfrm>
              <a:off x="0" y="0"/>
              <a:ext cx="2762400" cy="3714900"/>
            </a:xfrm>
            <a:prstGeom prst="roundRect">
              <a:avLst>
                <a:gd fmla="val 1379" name="adj"/>
              </a:avLst>
            </a:prstGeom>
            <a:solidFill>
              <a:srgbClr val="FFF7ED"/>
            </a:solidFill>
            <a:ln cap="flat" cmpd="sng" w="9525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0" y="0"/>
              <a:ext cx="57300" cy="3714900"/>
            </a:xfrm>
            <a:prstGeom prst="roundRect">
              <a:avLst>
                <a:gd fmla="val 33333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209550" y="152400"/>
              <a:ext cx="2400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STEP 03: HEALTH &amp; THERMAL ESTIMATION</a:t>
              </a:r>
              <a:endParaRPr b="0" sz="850">
                <a:solidFill>
                  <a:srgbClr val="EA580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cxnSp>
          <p:nvCxnSpPr>
            <p:cNvPr id="173" name="Google Shape;173;p17"/>
            <p:cNvCxnSpPr/>
            <p:nvPr/>
          </p:nvCxnSpPr>
          <p:spPr>
            <a:xfrm>
              <a:off x="209550" y="400050"/>
              <a:ext cx="24003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4" name="Google Shape;174;p17"/>
            <p:cNvSpPr txBox="1"/>
            <p:nvPr/>
          </p:nvSpPr>
          <p:spPr>
            <a:xfrm>
              <a:off x="209550" y="495300"/>
              <a:ext cx="2400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Predictive Engine Calculations</a:t>
              </a:r>
              <a:endParaRPr b="0" sz="1000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The core analytical engine computes multi-dimensional health and thermal metrics: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Predicted Fault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Health Index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Remaining Useful Life (RUL)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Cooling Effectiveness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Server Inlet Temperature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Open Sans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Thermal Margin</a:t>
              </a:r>
              <a:endParaRPr b="0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A580C"/>
                  </a:solidFill>
                  <a:latin typeface="Open Sans"/>
                  <a:ea typeface="Open Sans"/>
                  <a:cs typeface="Open Sans"/>
                  <a:sym typeface="Open Sans"/>
                </a:rPr>
                <a:t>Output Action:</a:t>
              </a:r>
              <a:endParaRPr b="1" sz="1000">
                <a:solidFill>
                  <a:srgbClr val="EA580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Determines the required maintenance level based on operational thresholds.</a:t>
              </a:r>
              <a:endParaRPr b="0" sz="1000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" name="Google Shape;180;p18"/>
          <p:cNvCxnSpPr/>
          <p:nvPr/>
        </p:nvCxnSpPr>
        <p:spPr>
          <a:xfrm>
            <a:off x="4572000" y="1143000"/>
            <a:ext cx="0" cy="3238500"/>
          </a:xfrm>
          <a:prstGeom prst="straightConnector1">
            <a:avLst/>
          </a:prstGeom>
          <a:solidFill>
            <a:srgbClr val="FFFFFF"/>
          </a:solidFill>
          <a:ln>
            <a:noFill/>
          </a:ln>
        </p:spPr>
      </p:cxnSp>
      <p:grpSp>
        <p:nvGrpSpPr>
          <p:cNvPr id="181" name="Google Shape;181;p18"/>
          <p:cNvGrpSpPr/>
          <p:nvPr/>
        </p:nvGrpSpPr>
        <p:grpSpPr>
          <a:xfrm>
            <a:off x="4514850" y="1085850"/>
            <a:ext cx="114300" cy="114300"/>
            <a:chOff x="0" y="0"/>
            <a:chExt cx="114300" cy="114300"/>
          </a:xfrm>
        </p:grpSpPr>
        <p:cxnSp>
          <p:nvCxnSpPr>
            <p:cNvPr id="182" name="Google Shape;182;p18"/>
            <p:cNvCxnSpPr/>
            <p:nvPr/>
          </p:nvCxnSpPr>
          <p:spPr>
            <a:xfrm>
              <a:off x="0" y="5715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8"/>
            <p:cNvCxnSpPr/>
            <p:nvPr/>
          </p:nvCxnSpPr>
          <p:spPr>
            <a:xfrm>
              <a:off x="57150" y="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4" name="Google Shape;184;p18"/>
          <p:cNvGrpSpPr/>
          <p:nvPr/>
        </p:nvGrpSpPr>
        <p:grpSpPr>
          <a:xfrm>
            <a:off x="4514850" y="4381500"/>
            <a:ext cx="114300" cy="114300"/>
            <a:chOff x="0" y="0"/>
            <a:chExt cx="114300" cy="114300"/>
          </a:xfrm>
        </p:grpSpPr>
        <p:cxnSp>
          <p:nvCxnSpPr>
            <p:cNvPr id="185" name="Google Shape;185;p18"/>
            <p:cNvCxnSpPr/>
            <p:nvPr/>
          </p:nvCxnSpPr>
          <p:spPr>
            <a:xfrm>
              <a:off x="0" y="5715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18"/>
            <p:cNvCxnSpPr/>
            <p:nvPr/>
          </p:nvCxnSpPr>
          <p:spPr>
            <a:xfrm>
              <a:off x="57150" y="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7" name="Google Shape;187;p18"/>
          <p:cNvGrpSpPr/>
          <p:nvPr/>
        </p:nvGrpSpPr>
        <p:grpSpPr>
          <a:xfrm>
            <a:off x="381000" y="4762500"/>
            <a:ext cx="8382000" cy="285750"/>
            <a:chOff x="0" y="0"/>
            <a:chExt cx="8382000" cy="285750"/>
          </a:xfrm>
        </p:grpSpPr>
        <p:cxnSp>
          <p:nvCxnSpPr>
            <p:cNvPr id="188" name="Google Shape;188;p18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>
              <a:noFill/>
            </a:ln>
          </p:spPr>
        </p:cxnSp>
        <p:sp>
          <p:nvSpPr>
            <p:cNvPr id="189" name="Google Shape;189;p18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75569"/>
                  </a:solidFill>
                </a:rPr>
                <a:t>VISHWAKARMA INSTITUTE OF TECHNOLOGY | PUNE, INDIA</a:t>
              </a:r>
              <a:endParaRPr sz="800">
                <a:solidFill>
                  <a:srgbClr val="475569"/>
                </a:solidFill>
              </a:endParaRPr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647700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75569"/>
                  </a:solidFill>
                </a:rPr>
                <a:t>PHYSICS-INFORMED DIGITAL TWIN</a:t>
              </a:r>
              <a:endParaRPr sz="800">
                <a:solidFill>
                  <a:srgbClr val="475569"/>
                </a:solidFill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381000" y="381000"/>
            <a:ext cx="8382000" cy="685950"/>
            <a:chOff x="0" y="0"/>
            <a:chExt cx="8382000" cy="685950"/>
          </a:xfrm>
        </p:grpSpPr>
        <p:sp>
          <p:nvSpPr>
            <p:cNvPr id="192" name="Google Shape;192;p18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Severity-Parameterized Fault Injection Model</a:t>
              </a: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0" y="4000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etBrains Mono"/>
                  <a:ea typeface="JetBrains Mono"/>
                  <a:cs typeface="JetBrains Mono"/>
                  <a:sym typeface="JetBrains Mono"/>
                </a:rPr>
                <a:t>Fault Severity Parameter: D ∈ [0, 1]</a:t>
              </a:r>
              <a:endParaRPr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381000" y="1143000"/>
            <a:ext cx="3905400" cy="1047900"/>
            <a:chOff x="0" y="0"/>
            <a:chExt cx="3905400" cy="1047900"/>
          </a:xfrm>
        </p:grpSpPr>
        <p:sp>
          <p:nvSpPr>
            <p:cNvPr id="195" name="Google Shape;195;p18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0" y="0"/>
              <a:ext cx="857400" cy="10479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7" name="Google Shape;197;p18"/>
            <p:cNvCxnSpPr/>
            <p:nvPr/>
          </p:nvCxnSpPr>
          <p:spPr>
            <a:xfrm>
              <a:off x="857250" y="0"/>
              <a:ext cx="0" cy="1047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8" name="Google Shape;198;p18"/>
            <p:cNvSpPr txBox="1"/>
            <p:nvPr/>
          </p:nvSpPr>
          <p:spPr>
            <a:xfrm>
              <a:off x="47625" y="42862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0284C7"/>
                  </a:solidFill>
                </a:rPr>
                <a:t>MODEL</a:t>
              </a:r>
              <a:endParaRPr sz="1190">
                <a:solidFill>
                  <a:srgbClr val="0284C7"/>
                </a:solidFill>
              </a:endParaRPr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1000125" y="171450"/>
              <a:ext cx="276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75569"/>
                  </a:solidFill>
                </a:rPr>
                <a:t>SEVERITY VARIABLE</a:t>
              </a:r>
              <a:endParaRPr>
                <a:solidFill>
                  <a:srgbClr val="475569"/>
                </a:solidFill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000125" y="400050"/>
              <a:ext cx="2762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D ∈ [0, 1]</a:t>
              </a:r>
              <a:endParaRPr b="0" sz="1500">
                <a:solidFill>
                  <a:srgbClr val="0F172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381000" y="2343150"/>
            <a:ext cx="3905400" cy="895500"/>
            <a:chOff x="0" y="0"/>
            <a:chExt cx="3905400" cy="8955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3905400" cy="895500"/>
            </a:xfrm>
            <a:prstGeom prst="roundRect">
              <a:avLst>
                <a:gd fmla="val 425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8"/>
            <p:cNvSpPr txBox="1"/>
            <p:nvPr/>
          </p:nvSpPr>
          <p:spPr>
            <a:xfrm>
              <a:off x="152400" y="133350"/>
              <a:ext cx="3600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475569"/>
                  </a:solidFill>
                </a:rPr>
                <a:t>OPERATIONAL STATE SPECTRUM</a:t>
              </a:r>
              <a:endParaRPr sz="1190">
                <a:solidFill>
                  <a:srgbClr val="475569"/>
                </a:solidFill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152400" y="361950"/>
              <a:ext cx="3600600" cy="762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5" name="Google Shape;20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2400" y="361950"/>
              <a:ext cx="36006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8"/>
            <p:cNvSpPr/>
            <p:nvPr/>
          </p:nvSpPr>
          <p:spPr>
            <a:xfrm>
              <a:off x="104775" y="352425"/>
              <a:ext cx="95400" cy="95400"/>
            </a:xfrm>
            <a:prstGeom prst="ellipse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8"/>
            <p:cNvSpPr txBox="1"/>
            <p:nvPr/>
          </p:nvSpPr>
          <p:spPr>
            <a:xfrm>
              <a:off x="152400" y="514350"/>
              <a:ext cx="142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F172A"/>
                  </a:solidFill>
                </a:rPr>
                <a:t>D = 0.0</a:t>
              </a:r>
              <a:endParaRPr b="1" sz="900">
                <a:solidFill>
                  <a:srgbClr val="0F172A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</a:rPr>
                <a:t>Healthy State</a:t>
              </a:r>
              <a:endParaRPr sz="850">
                <a:solidFill>
                  <a:srgbClr val="475569"/>
                </a:solidFill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3705225" y="352425"/>
              <a:ext cx="95400" cy="9540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 txBox="1"/>
            <p:nvPr/>
          </p:nvSpPr>
          <p:spPr>
            <a:xfrm>
              <a:off x="2324100" y="514350"/>
              <a:ext cx="142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EA580C"/>
                  </a:solidFill>
                </a:rPr>
                <a:t>D = 1.0</a:t>
              </a:r>
              <a:endParaRPr b="1" sz="900">
                <a:solidFill>
                  <a:srgbClr val="EA580C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</a:rPr>
                <a:t>End-of-Life State</a:t>
              </a:r>
              <a:endParaRPr sz="850">
                <a:solidFill>
                  <a:srgbClr val="475569"/>
                </a:solidFill>
              </a:endParaRPr>
            </a:p>
          </p:txBody>
        </p:sp>
      </p:grpSp>
      <p:grpSp>
        <p:nvGrpSpPr>
          <p:cNvPr id="210" name="Google Shape;210;p18"/>
          <p:cNvGrpSpPr/>
          <p:nvPr/>
        </p:nvGrpSpPr>
        <p:grpSpPr>
          <a:xfrm>
            <a:off x="381000" y="3390900"/>
            <a:ext cx="3905400" cy="952500"/>
            <a:chOff x="0" y="0"/>
            <a:chExt cx="3905400" cy="952500"/>
          </a:xfrm>
        </p:grpSpPr>
        <p:sp>
          <p:nvSpPr>
            <p:cNvPr id="211" name="Google Shape;211;p18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0" y="0"/>
              <a:ext cx="47700" cy="95250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8"/>
            <p:cNvSpPr txBox="1"/>
            <p:nvPr/>
          </p:nvSpPr>
          <p:spPr>
            <a:xfrm>
              <a:off x="190500" y="133350"/>
              <a:ext cx="3524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EA580C"/>
                  </a:solidFill>
                </a:rPr>
                <a:t>SYSTEM COUPLING EFFECTS</a:t>
              </a:r>
              <a:endParaRPr sz="1190">
                <a:solidFill>
                  <a:srgbClr val="EA580C"/>
                </a:solidFill>
              </a:endParaRPr>
            </a:p>
          </p:txBody>
        </p:sp>
        <p:sp>
          <p:nvSpPr>
            <p:cNvPr id="214" name="Google Shape;214;p18"/>
            <p:cNvSpPr txBox="1"/>
            <p:nvPr/>
          </p:nvSpPr>
          <p:spPr>
            <a:xfrm>
              <a:off x="190500" y="342900"/>
              <a:ext cx="35244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85">
                  <a:solidFill>
                    <a:srgbClr val="0F172A"/>
                  </a:solidFill>
                </a:rPr>
                <a:t>Faults directly couple to overall system efficiency, continuously scaling </a:t>
              </a:r>
              <a:r>
                <a:rPr b="1" lang="en" sz="1085">
                  <a:solidFill>
                    <a:srgbClr val="0F172A"/>
                  </a:solidFill>
                </a:rPr>
                <a:t>flow</a:t>
              </a:r>
              <a:r>
                <a:rPr lang="en" sz="1085">
                  <a:solidFill>
                    <a:srgbClr val="0F172A"/>
                  </a:solidFill>
                </a:rPr>
                <a:t>, </a:t>
              </a:r>
              <a:r>
                <a:rPr b="1" lang="en" sz="1085">
                  <a:solidFill>
                    <a:srgbClr val="0F172A"/>
                  </a:solidFill>
                </a:rPr>
                <a:t>head</a:t>
              </a:r>
              <a:r>
                <a:rPr lang="en" sz="1085">
                  <a:solidFill>
                    <a:srgbClr val="0F172A"/>
                  </a:solidFill>
                </a:rPr>
                <a:t>, and </a:t>
              </a:r>
              <a:r>
                <a:rPr b="1" lang="en" sz="1085">
                  <a:solidFill>
                    <a:srgbClr val="0F172A"/>
                  </a:solidFill>
                </a:rPr>
                <a:t>broadband vibration energy</a:t>
              </a:r>
              <a:r>
                <a:rPr lang="en" sz="1085">
                  <a:solidFill>
                    <a:srgbClr val="0F172A"/>
                  </a:solidFill>
                </a:rPr>
                <a:t> based on the parameter </a:t>
              </a:r>
              <a:r>
                <a:rPr i="1" lang="en" sz="1085">
                  <a:solidFill>
                    <a:srgbClr val="0F172A"/>
                  </a:solidFill>
                </a:rPr>
                <a:t>D</a:t>
              </a:r>
              <a:r>
                <a:rPr lang="en" sz="1085">
                  <a:solidFill>
                    <a:srgbClr val="0F172A"/>
                  </a:solidFill>
                </a:rPr>
                <a:t>.</a:t>
              </a:r>
              <a:endParaRPr sz="1085">
                <a:solidFill>
                  <a:srgbClr val="0F172A"/>
                </a:solidFill>
              </a:endParaRPr>
            </a:p>
          </p:txBody>
        </p:sp>
      </p:grpSp>
      <p:grpSp>
        <p:nvGrpSpPr>
          <p:cNvPr id="215" name="Google Shape;215;p18"/>
          <p:cNvGrpSpPr/>
          <p:nvPr/>
        </p:nvGrpSpPr>
        <p:grpSpPr>
          <a:xfrm>
            <a:off x="4857750" y="1143000"/>
            <a:ext cx="3905400" cy="1543200"/>
            <a:chOff x="0" y="0"/>
            <a:chExt cx="3905400" cy="1543200"/>
          </a:xfrm>
        </p:grpSpPr>
        <p:sp>
          <p:nvSpPr>
            <p:cNvPr id="216" name="Google Shape;216;p18"/>
            <p:cNvSpPr/>
            <p:nvPr/>
          </p:nvSpPr>
          <p:spPr>
            <a:xfrm>
              <a:off x="0" y="0"/>
              <a:ext cx="3905400" cy="1543200"/>
            </a:xfrm>
            <a:prstGeom prst="roundRect">
              <a:avLst>
                <a:gd fmla="val 2469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7" name="Google Shape;217;p18"/>
            <p:cNvCxnSpPr/>
            <p:nvPr/>
          </p:nvCxnSpPr>
          <p:spPr>
            <a:xfrm>
              <a:off x="0" y="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>
              <a:noFill/>
            </a:ln>
          </p:spPr>
        </p:cxnSp>
        <p:sp>
          <p:nvSpPr>
            <p:cNvPr id="218" name="Google Shape;218;p18"/>
            <p:cNvSpPr txBox="1"/>
            <p:nvPr/>
          </p:nvSpPr>
          <p:spPr>
            <a:xfrm>
              <a:off x="190500" y="152400"/>
              <a:ext cx="352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0F172A"/>
                  </a:solidFill>
                </a:rPr>
                <a:t>Pump Faults</a:t>
              </a:r>
              <a:endParaRPr sz="1400">
                <a:solidFill>
                  <a:srgbClr val="0F172A"/>
                </a:solidFill>
              </a:endParaRPr>
            </a:p>
          </p:txBody>
        </p:sp>
        <p:grpSp>
          <p:nvGrpSpPr>
            <p:cNvPr id="219" name="Google Shape;219;p18"/>
            <p:cNvGrpSpPr/>
            <p:nvPr/>
          </p:nvGrpSpPr>
          <p:grpSpPr>
            <a:xfrm>
              <a:off x="200025" y="457200"/>
              <a:ext cx="3571725" cy="857400"/>
              <a:chOff x="9525" y="0"/>
              <a:chExt cx="3571725" cy="857400"/>
            </a:xfrm>
          </p:grpSpPr>
          <p:sp>
            <p:nvSpPr>
              <p:cNvPr id="220" name="Google Shape;220;p18"/>
              <p:cNvSpPr/>
              <p:nvPr/>
            </p:nvSpPr>
            <p:spPr>
              <a:xfrm>
                <a:off x="9525" y="47625"/>
                <a:ext cx="57300" cy="57300"/>
              </a:xfrm>
              <a:prstGeom prst="ellipse">
                <a:avLst/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8"/>
              <p:cNvSpPr txBox="1"/>
              <p:nvPr/>
            </p:nvSpPr>
            <p:spPr>
              <a:xfrm>
                <a:off x="152400" y="0"/>
                <a:ext cx="1619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>
                    <a:solidFill>
                      <a:srgbClr val="0F172A"/>
                    </a:solidFill>
                  </a:rPr>
                  <a:t>Cavitation</a:t>
                </a:r>
                <a:endParaRPr b="0">
                  <a:solidFill>
                    <a:srgbClr val="0F172A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64748B"/>
                    </a:solidFill>
                  </a:rPr>
                  <a:t>Flow Recirculation</a:t>
                </a:r>
                <a:endParaRPr sz="950">
                  <a:solidFill>
                    <a:srgbClr val="64748B"/>
                  </a:solidFill>
                </a:endParaRPr>
              </a:p>
            </p:txBody>
          </p:sp>
          <p:sp>
            <p:nvSpPr>
              <p:cNvPr id="222" name="Google Shape;222;p18"/>
              <p:cNvSpPr/>
              <p:nvPr/>
            </p:nvSpPr>
            <p:spPr>
              <a:xfrm>
                <a:off x="1819275" y="47625"/>
                <a:ext cx="57300" cy="57300"/>
              </a:xfrm>
              <a:prstGeom prst="ellipse">
                <a:avLst/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8"/>
              <p:cNvSpPr txBox="1"/>
              <p:nvPr/>
            </p:nvSpPr>
            <p:spPr>
              <a:xfrm>
                <a:off x="1962150" y="0"/>
                <a:ext cx="1619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>
                    <a:solidFill>
                      <a:srgbClr val="0F172A"/>
                    </a:solidFill>
                  </a:rPr>
                  <a:t>Unbalance</a:t>
                </a:r>
                <a:endParaRPr b="0">
                  <a:solidFill>
                    <a:srgbClr val="0F172A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64748B"/>
                    </a:solidFill>
                  </a:rPr>
                  <a:t>Rotor Mass Asymmetry</a:t>
                </a:r>
                <a:endParaRPr sz="950">
                  <a:solidFill>
                    <a:srgbClr val="64748B"/>
                  </a:solidFill>
                </a:endParaRPr>
              </a:p>
            </p:txBody>
          </p:sp>
          <p:sp>
            <p:nvSpPr>
              <p:cNvPr id="224" name="Google Shape;224;p18"/>
              <p:cNvSpPr/>
              <p:nvPr/>
            </p:nvSpPr>
            <p:spPr>
              <a:xfrm>
                <a:off x="9525" y="504825"/>
                <a:ext cx="57300" cy="57300"/>
              </a:xfrm>
              <a:prstGeom prst="ellipse">
                <a:avLst/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8"/>
              <p:cNvSpPr txBox="1"/>
              <p:nvPr/>
            </p:nvSpPr>
            <p:spPr>
              <a:xfrm>
                <a:off x="152400" y="457200"/>
                <a:ext cx="1619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95">
                    <a:solidFill>
                      <a:srgbClr val="0F172A"/>
                    </a:solidFill>
                  </a:rPr>
                  <a:t>Bearing Degradation</a:t>
                </a:r>
                <a:endParaRPr b="0" sz="1295">
                  <a:solidFill>
                    <a:srgbClr val="0F172A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79">
                    <a:solidFill>
                      <a:srgbClr val="64748B"/>
                    </a:solidFill>
                  </a:rPr>
                  <a:t>Inner/Outer Race Wear</a:t>
                </a:r>
                <a:endParaRPr sz="879">
                  <a:solidFill>
                    <a:srgbClr val="64748B"/>
                  </a:solidFill>
                </a:endParaRPr>
              </a:p>
            </p:txBody>
          </p:sp>
          <p:sp>
            <p:nvSpPr>
              <p:cNvPr id="226" name="Google Shape;226;p18"/>
              <p:cNvSpPr/>
              <p:nvPr/>
            </p:nvSpPr>
            <p:spPr>
              <a:xfrm>
                <a:off x="1819275" y="504825"/>
                <a:ext cx="57300" cy="57300"/>
              </a:xfrm>
              <a:prstGeom prst="ellipse">
                <a:avLst/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8"/>
              <p:cNvSpPr txBox="1"/>
              <p:nvPr/>
            </p:nvSpPr>
            <p:spPr>
              <a:xfrm>
                <a:off x="1962150" y="457200"/>
                <a:ext cx="1619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>
                    <a:solidFill>
                      <a:srgbClr val="0F172A"/>
                    </a:solidFill>
                  </a:rPr>
                  <a:t>Misalignment</a:t>
                </a:r>
                <a:endParaRPr b="0">
                  <a:solidFill>
                    <a:srgbClr val="0F172A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64748B"/>
                    </a:solidFill>
                  </a:rPr>
                  <a:t>Shaft Angular/Parallel</a:t>
                </a:r>
                <a:endParaRPr sz="950">
                  <a:solidFill>
                    <a:srgbClr val="64748B"/>
                  </a:solidFill>
                </a:endParaRPr>
              </a:p>
            </p:txBody>
          </p:sp>
        </p:grpSp>
      </p:grpSp>
      <p:grpSp>
        <p:nvGrpSpPr>
          <p:cNvPr id="228" name="Google Shape;228;p18"/>
          <p:cNvGrpSpPr/>
          <p:nvPr/>
        </p:nvGrpSpPr>
        <p:grpSpPr>
          <a:xfrm>
            <a:off x="4857750" y="2800350"/>
            <a:ext cx="3905400" cy="1543200"/>
            <a:chOff x="0" y="0"/>
            <a:chExt cx="3905400" cy="1543200"/>
          </a:xfrm>
        </p:grpSpPr>
        <p:sp>
          <p:nvSpPr>
            <p:cNvPr id="229" name="Google Shape;229;p18"/>
            <p:cNvSpPr/>
            <p:nvPr/>
          </p:nvSpPr>
          <p:spPr>
            <a:xfrm>
              <a:off x="0" y="0"/>
              <a:ext cx="3905400" cy="1543200"/>
            </a:xfrm>
            <a:prstGeom prst="roundRect">
              <a:avLst>
                <a:gd fmla="val 2469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0" name="Google Shape;230;p18"/>
            <p:cNvCxnSpPr/>
            <p:nvPr/>
          </p:nvCxnSpPr>
          <p:spPr>
            <a:xfrm>
              <a:off x="0" y="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1" name="Google Shape;231;p18"/>
            <p:cNvSpPr txBox="1"/>
            <p:nvPr/>
          </p:nvSpPr>
          <p:spPr>
            <a:xfrm>
              <a:off x="190500" y="152400"/>
              <a:ext cx="352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0F172A"/>
                  </a:solidFill>
                </a:rPr>
                <a:t>Fan Faults</a:t>
              </a:r>
              <a:endParaRPr sz="1400">
                <a:solidFill>
                  <a:srgbClr val="0F172A"/>
                </a:solidFill>
              </a:endParaRPr>
            </a:p>
          </p:txBody>
        </p:sp>
        <p:grpSp>
          <p:nvGrpSpPr>
            <p:cNvPr id="232" name="Google Shape;232;p18"/>
            <p:cNvGrpSpPr/>
            <p:nvPr/>
          </p:nvGrpSpPr>
          <p:grpSpPr>
            <a:xfrm>
              <a:off x="200025" y="457200"/>
              <a:ext cx="3571725" cy="857400"/>
              <a:chOff x="9525" y="0"/>
              <a:chExt cx="3571725" cy="857400"/>
            </a:xfrm>
          </p:grpSpPr>
          <p:sp>
            <p:nvSpPr>
              <p:cNvPr id="233" name="Google Shape;233;p18"/>
              <p:cNvSpPr/>
              <p:nvPr/>
            </p:nvSpPr>
            <p:spPr>
              <a:xfrm>
                <a:off x="9525" y="47625"/>
                <a:ext cx="57300" cy="57300"/>
              </a:xfrm>
              <a:prstGeom prst="ellipse">
                <a:avLst/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8"/>
              <p:cNvSpPr txBox="1"/>
              <p:nvPr/>
            </p:nvSpPr>
            <p:spPr>
              <a:xfrm>
                <a:off x="152400" y="0"/>
                <a:ext cx="1619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>
                    <a:solidFill>
                      <a:srgbClr val="0F172A"/>
                    </a:solidFill>
                  </a:rPr>
                  <a:t>Unbalance</a:t>
                </a:r>
                <a:endParaRPr b="0">
                  <a:solidFill>
                    <a:srgbClr val="0F172A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64748B"/>
                    </a:solidFill>
                  </a:rPr>
                  <a:t>Impeller Mass Asymmetry</a:t>
                </a:r>
                <a:endParaRPr sz="950">
                  <a:solidFill>
                    <a:srgbClr val="64748B"/>
                  </a:solidFill>
                </a:endParaRPr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1819275" y="47625"/>
                <a:ext cx="57300" cy="57300"/>
              </a:xfrm>
              <a:prstGeom prst="ellipse">
                <a:avLst/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8"/>
              <p:cNvSpPr txBox="1"/>
              <p:nvPr/>
            </p:nvSpPr>
            <p:spPr>
              <a:xfrm>
                <a:off x="1962150" y="0"/>
                <a:ext cx="1619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95">
                    <a:solidFill>
                      <a:srgbClr val="0F172A"/>
                    </a:solidFill>
                  </a:rPr>
                  <a:t>Bearing Degradation</a:t>
                </a:r>
                <a:endParaRPr b="0" sz="1295">
                  <a:solidFill>
                    <a:srgbClr val="0F172A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79">
                    <a:solidFill>
                      <a:srgbClr val="64748B"/>
                    </a:solidFill>
                  </a:rPr>
                  <a:t>Mechanical Spall/Frictional</a:t>
                </a:r>
                <a:endParaRPr sz="879">
                  <a:solidFill>
                    <a:srgbClr val="64748B"/>
                  </a:solidFill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9525" y="504825"/>
                <a:ext cx="57300" cy="57300"/>
              </a:xfrm>
              <a:prstGeom prst="ellipse">
                <a:avLst/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8"/>
              <p:cNvSpPr txBox="1"/>
              <p:nvPr/>
            </p:nvSpPr>
            <p:spPr>
              <a:xfrm>
                <a:off x="152400" y="457200"/>
                <a:ext cx="1619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>
                    <a:solidFill>
                      <a:srgbClr val="0F172A"/>
                    </a:solidFill>
                  </a:rPr>
                  <a:t>Misalignment</a:t>
                </a:r>
                <a:endParaRPr b="0">
                  <a:solidFill>
                    <a:srgbClr val="0F172A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64748B"/>
                    </a:solidFill>
                  </a:rPr>
                  <a:t>Drive Coupling Deflection</a:t>
                </a:r>
                <a:endParaRPr sz="950">
                  <a:solidFill>
                    <a:srgbClr val="64748B"/>
                  </a:solidFill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1819275" y="504825"/>
                <a:ext cx="57300" cy="57300"/>
              </a:xfrm>
              <a:prstGeom prst="ellipse">
                <a:avLst/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1962150" y="457200"/>
                <a:ext cx="1619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>
                    <a:solidFill>
                      <a:srgbClr val="0F172A"/>
                    </a:solidFill>
                  </a:rPr>
                  <a:t>Efficiency Loss</a:t>
                </a:r>
                <a:endParaRPr b="0">
                  <a:solidFill>
                    <a:srgbClr val="0F172A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64748B"/>
                    </a:solidFill>
                  </a:rPr>
                  <a:t>Aero Performance Drop</a:t>
                </a:r>
                <a:endParaRPr sz="950">
                  <a:solidFill>
                    <a:srgbClr val="64748B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46" name="Google Shape;246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" name="Google Shape;247;p19"/>
            <p:cNvGrpSpPr/>
            <p:nvPr/>
          </p:nvGrpSpPr>
          <p:grpSpPr>
            <a:xfrm>
              <a:off x="381000" y="4757738"/>
              <a:ext cx="8382000" cy="290513"/>
              <a:chOff x="0" y="-4762"/>
              <a:chExt cx="8382000" cy="290513"/>
            </a:xfrm>
          </p:grpSpPr>
          <p:pic>
            <p:nvPicPr>
              <p:cNvPr id="248" name="Google Shape;248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-4762"/>
                <a:ext cx="8343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9" name="Google Shape;249;p19"/>
              <p:cNvSpPr txBox="1"/>
              <p:nvPr/>
            </p:nvSpPr>
            <p:spPr>
              <a:xfrm>
                <a:off x="0" y="9525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VISHWAKARMA INSTITUTE OF TECHNOLOGY | PUNE, INDIA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250" name="Google Shape;250;p19"/>
              <p:cNvSpPr txBox="1"/>
              <p:nvPr/>
            </p:nvSpPr>
            <p:spPr>
              <a:xfrm>
                <a:off x="6477000" y="9525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PHYSICS-INFORMED DIGITAL TWIN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</p:grpSp>
      <p:grpSp>
        <p:nvGrpSpPr>
          <p:cNvPr id="251" name="Google Shape;251;p19"/>
          <p:cNvGrpSpPr/>
          <p:nvPr/>
        </p:nvGrpSpPr>
        <p:grpSpPr>
          <a:xfrm>
            <a:off x="381000" y="342900"/>
            <a:ext cx="8382000" cy="685950"/>
            <a:chOff x="0" y="0"/>
            <a:chExt cx="8382000" cy="685950"/>
          </a:xfrm>
        </p:grpSpPr>
        <p:sp>
          <p:nvSpPr>
            <p:cNvPr id="252" name="Google Shape;252;p19"/>
            <p:cNvSpPr txBox="1"/>
            <p:nvPr/>
          </p:nvSpPr>
          <p:spPr>
            <a:xfrm>
              <a:off x="0" y="0"/>
              <a:ext cx="8382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1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Multimodal Feature Extraction</a:t>
              </a:r>
              <a:endParaRPr b="1" sz="221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0" y="4000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To ensure robust diagnosis, the system extracts a fused feature set across multiple domains:</a:t>
              </a:r>
              <a:endParaRPr b="0" sz="1100">
                <a:solidFill>
                  <a:srgbClr val="0F172A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</p:grpSp>
      <p:grpSp>
        <p:nvGrpSpPr>
          <p:cNvPr id="254" name="Google Shape;254;p19"/>
          <p:cNvGrpSpPr/>
          <p:nvPr/>
        </p:nvGrpSpPr>
        <p:grpSpPr>
          <a:xfrm>
            <a:off x="381000" y="1143000"/>
            <a:ext cx="4048200" cy="3333825"/>
            <a:chOff x="0" y="0"/>
            <a:chExt cx="4048200" cy="3333825"/>
          </a:xfrm>
        </p:grpSpPr>
        <p:grpSp>
          <p:nvGrpSpPr>
            <p:cNvPr id="255" name="Google Shape;255;p19"/>
            <p:cNvGrpSpPr/>
            <p:nvPr/>
          </p:nvGrpSpPr>
          <p:grpSpPr>
            <a:xfrm>
              <a:off x="0" y="0"/>
              <a:ext cx="4048200" cy="1571700"/>
              <a:chOff x="0" y="0"/>
              <a:chExt cx="4048200" cy="1571700"/>
            </a:xfrm>
          </p:grpSpPr>
          <p:sp>
            <p:nvSpPr>
              <p:cNvPr id="256" name="Google Shape;256;p19"/>
              <p:cNvSpPr/>
              <p:nvPr/>
            </p:nvSpPr>
            <p:spPr>
              <a:xfrm>
                <a:off x="0" y="0"/>
                <a:ext cx="4048200" cy="1571700"/>
              </a:xfrm>
              <a:prstGeom prst="roundRect">
                <a:avLst>
                  <a:gd fmla="val 24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7" name="Google Shape;257;p19"/>
              <p:cNvGrpSpPr/>
              <p:nvPr/>
            </p:nvGrpSpPr>
            <p:grpSpPr>
              <a:xfrm>
                <a:off x="3857625" y="76200"/>
                <a:ext cx="114300" cy="114300"/>
                <a:chOff x="0" y="0"/>
                <a:chExt cx="114300" cy="114300"/>
              </a:xfrm>
            </p:grpSpPr>
            <p:cxnSp>
              <p:nvCxnSpPr>
                <p:cNvPr id="258" name="Google Shape;258;p19"/>
                <p:cNvCxnSpPr/>
                <p:nvPr/>
              </p:nvCxnSpPr>
              <p:spPr>
                <a:xfrm>
                  <a:off x="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9" name="Google Shape;259;p19"/>
                <p:cNvCxnSpPr/>
                <p:nvPr/>
              </p:nvCxnSpPr>
              <p:spPr>
                <a:xfrm>
                  <a:off x="57150" y="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60" name="Google Shape;260;p19"/>
              <p:cNvCxnSpPr/>
              <p:nvPr/>
            </p:nvCxnSpPr>
            <p:spPr>
              <a:xfrm>
                <a:off x="0" y="0"/>
                <a:ext cx="4048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1" name="Google Shape;261;p19"/>
              <p:cNvSpPr txBox="1"/>
              <p:nvPr/>
            </p:nvSpPr>
            <p:spPr>
              <a:xfrm>
                <a:off x="190500" y="152400"/>
                <a:ext cx="3524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284C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DOMAIN 01 // MECHANICAL</a:t>
                </a:r>
                <a:endParaRPr b="0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262" name="Google Shape;262;p19"/>
              <p:cNvSpPr txBox="1"/>
              <p:nvPr/>
            </p:nvSpPr>
            <p:spPr>
              <a:xfrm>
                <a:off x="190500" y="381000"/>
                <a:ext cx="36672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rPr>
                  <a:t>Vibration Features</a:t>
                </a:r>
                <a:endParaRPr b="1" sz="14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3" name="Google Shape;263;p19"/>
              <p:cNvSpPr txBox="1"/>
              <p:nvPr/>
            </p:nvSpPr>
            <p:spPr>
              <a:xfrm>
                <a:off x="190500" y="685800"/>
                <a:ext cx="3667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Time-domain statistics, band energies, and spectral amplitudes at specific bearing defect frequencies.</a:t>
                </a:r>
                <a:endParaRPr b="0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64" name="Google Shape;264;p19"/>
            <p:cNvGrpSpPr/>
            <p:nvPr/>
          </p:nvGrpSpPr>
          <p:grpSpPr>
            <a:xfrm>
              <a:off x="0" y="1762125"/>
              <a:ext cx="4048200" cy="1571700"/>
              <a:chOff x="0" y="0"/>
              <a:chExt cx="4048200" cy="1571700"/>
            </a:xfrm>
          </p:grpSpPr>
          <p:sp>
            <p:nvSpPr>
              <p:cNvPr id="265" name="Google Shape;265;p19"/>
              <p:cNvSpPr/>
              <p:nvPr/>
            </p:nvSpPr>
            <p:spPr>
              <a:xfrm>
                <a:off x="0" y="0"/>
                <a:ext cx="4048200" cy="1571700"/>
              </a:xfrm>
              <a:prstGeom prst="roundRect">
                <a:avLst>
                  <a:gd fmla="val 24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6" name="Google Shape;266;p19"/>
              <p:cNvGrpSpPr/>
              <p:nvPr/>
            </p:nvGrpSpPr>
            <p:grpSpPr>
              <a:xfrm>
                <a:off x="3857625" y="76200"/>
                <a:ext cx="114300" cy="114300"/>
                <a:chOff x="0" y="0"/>
                <a:chExt cx="114300" cy="114300"/>
              </a:xfrm>
            </p:grpSpPr>
            <p:cxnSp>
              <p:nvCxnSpPr>
                <p:cNvPr id="267" name="Google Shape;267;p19"/>
                <p:cNvCxnSpPr/>
                <p:nvPr/>
              </p:nvCxnSpPr>
              <p:spPr>
                <a:xfrm>
                  <a:off x="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8" name="Google Shape;268;p19"/>
                <p:cNvCxnSpPr/>
                <p:nvPr/>
              </p:nvCxnSpPr>
              <p:spPr>
                <a:xfrm>
                  <a:off x="57150" y="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69" name="Google Shape;269;p19"/>
              <p:cNvCxnSpPr/>
              <p:nvPr/>
            </p:nvCxnSpPr>
            <p:spPr>
              <a:xfrm>
                <a:off x="0" y="0"/>
                <a:ext cx="4048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0" name="Google Shape;270;p19"/>
              <p:cNvSpPr txBox="1"/>
              <p:nvPr/>
            </p:nvSpPr>
            <p:spPr>
              <a:xfrm>
                <a:off x="190500" y="152400"/>
                <a:ext cx="3524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284C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DOMAIN 02 // ELECTRICAL</a:t>
                </a:r>
                <a:endParaRPr b="0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271" name="Google Shape;271;p19"/>
              <p:cNvSpPr txBox="1"/>
              <p:nvPr/>
            </p:nvSpPr>
            <p:spPr>
              <a:xfrm>
                <a:off x="190500" y="381000"/>
                <a:ext cx="36672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rPr>
                  <a:t>Motor Current Signature Analysis (MCSA)</a:t>
                </a:r>
                <a:endParaRPr b="1" sz="14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2" name="Google Shape;272;p19"/>
              <p:cNvSpPr txBox="1"/>
              <p:nvPr/>
            </p:nvSpPr>
            <p:spPr>
              <a:xfrm>
                <a:off x="190500" y="685800"/>
                <a:ext cx="3667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RMS values and sideband amplitudes around the line frequency.</a:t>
                </a:r>
                <a:endParaRPr b="0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73" name="Google Shape;273;p19"/>
          <p:cNvGrpSpPr/>
          <p:nvPr/>
        </p:nvGrpSpPr>
        <p:grpSpPr>
          <a:xfrm>
            <a:off x="4714875" y="1143000"/>
            <a:ext cx="4048200" cy="3333825"/>
            <a:chOff x="0" y="0"/>
            <a:chExt cx="4048200" cy="3333825"/>
          </a:xfrm>
        </p:grpSpPr>
        <p:grpSp>
          <p:nvGrpSpPr>
            <p:cNvPr id="274" name="Google Shape;274;p19"/>
            <p:cNvGrpSpPr/>
            <p:nvPr/>
          </p:nvGrpSpPr>
          <p:grpSpPr>
            <a:xfrm>
              <a:off x="0" y="0"/>
              <a:ext cx="4048200" cy="1571700"/>
              <a:chOff x="0" y="0"/>
              <a:chExt cx="4048200" cy="1571700"/>
            </a:xfrm>
          </p:grpSpPr>
          <p:sp>
            <p:nvSpPr>
              <p:cNvPr id="275" name="Google Shape;275;p19"/>
              <p:cNvSpPr/>
              <p:nvPr/>
            </p:nvSpPr>
            <p:spPr>
              <a:xfrm>
                <a:off x="0" y="0"/>
                <a:ext cx="4048200" cy="1571700"/>
              </a:xfrm>
              <a:prstGeom prst="roundRect">
                <a:avLst>
                  <a:gd fmla="val 24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6" name="Google Shape;276;p19"/>
              <p:cNvGrpSpPr/>
              <p:nvPr/>
            </p:nvGrpSpPr>
            <p:grpSpPr>
              <a:xfrm>
                <a:off x="3857625" y="76200"/>
                <a:ext cx="114300" cy="114300"/>
                <a:chOff x="0" y="0"/>
                <a:chExt cx="114300" cy="114300"/>
              </a:xfrm>
            </p:grpSpPr>
            <p:cxnSp>
              <p:nvCxnSpPr>
                <p:cNvPr id="277" name="Google Shape;277;p19"/>
                <p:cNvCxnSpPr/>
                <p:nvPr/>
              </p:nvCxnSpPr>
              <p:spPr>
                <a:xfrm>
                  <a:off x="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8" name="Google Shape;278;p19"/>
                <p:cNvCxnSpPr/>
                <p:nvPr/>
              </p:nvCxnSpPr>
              <p:spPr>
                <a:xfrm>
                  <a:off x="57150" y="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79" name="Google Shape;279;p19"/>
              <p:cNvCxnSpPr/>
              <p:nvPr/>
            </p:nvCxnSpPr>
            <p:spPr>
              <a:xfrm>
                <a:off x="0" y="0"/>
                <a:ext cx="4048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0" name="Google Shape;280;p19"/>
              <p:cNvSpPr txBox="1"/>
              <p:nvPr/>
            </p:nvSpPr>
            <p:spPr>
              <a:xfrm>
                <a:off x="190500" y="152400"/>
                <a:ext cx="3524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284C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DOMAIN 03 // KINEMATICS &amp; THERMAL</a:t>
                </a:r>
                <a:endParaRPr b="0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281" name="Google Shape;281;p19"/>
              <p:cNvSpPr txBox="1"/>
              <p:nvPr/>
            </p:nvSpPr>
            <p:spPr>
              <a:xfrm>
                <a:off x="190500" y="381000"/>
                <a:ext cx="36672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rPr>
                  <a:t>Operating-State Features</a:t>
                </a:r>
                <a:endParaRPr b="1" sz="14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82" name="Google Shape;282;p19"/>
              <p:cNvSpPr txBox="1"/>
              <p:nvPr/>
            </p:nvSpPr>
            <p:spPr>
              <a:xfrm>
                <a:off x="190500" y="685800"/>
                <a:ext cx="3667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Shaft speed, load fraction, ambient temperature, and motor-derived electrical power.</a:t>
                </a:r>
                <a:endParaRPr b="0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83" name="Google Shape;283;p19"/>
            <p:cNvGrpSpPr/>
            <p:nvPr/>
          </p:nvGrpSpPr>
          <p:grpSpPr>
            <a:xfrm>
              <a:off x="0" y="1762125"/>
              <a:ext cx="4048200" cy="1571700"/>
              <a:chOff x="0" y="0"/>
              <a:chExt cx="4048200" cy="1571700"/>
            </a:xfrm>
          </p:grpSpPr>
          <p:sp>
            <p:nvSpPr>
              <p:cNvPr id="284" name="Google Shape;284;p19"/>
              <p:cNvSpPr/>
              <p:nvPr/>
            </p:nvSpPr>
            <p:spPr>
              <a:xfrm>
                <a:off x="0" y="0"/>
                <a:ext cx="4048200" cy="1571700"/>
              </a:xfrm>
              <a:prstGeom prst="roundRect">
                <a:avLst>
                  <a:gd fmla="val 24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5" name="Google Shape;285;p19"/>
              <p:cNvGrpSpPr/>
              <p:nvPr/>
            </p:nvGrpSpPr>
            <p:grpSpPr>
              <a:xfrm>
                <a:off x="3857625" y="76200"/>
                <a:ext cx="114300" cy="114300"/>
                <a:chOff x="0" y="0"/>
                <a:chExt cx="114300" cy="114300"/>
              </a:xfrm>
            </p:grpSpPr>
            <p:cxnSp>
              <p:nvCxnSpPr>
                <p:cNvPr id="286" name="Google Shape;286;p19"/>
                <p:cNvCxnSpPr/>
                <p:nvPr/>
              </p:nvCxnSpPr>
              <p:spPr>
                <a:xfrm>
                  <a:off x="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19"/>
                <p:cNvCxnSpPr/>
                <p:nvPr/>
              </p:nvCxnSpPr>
              <p:spPr>
                <a:xfrm>
                  <a:off x="57150" y="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88" name="Google Shape;288;p19"/>
              <p:cNvCxnSpPr/>
              <p:nvPr/>
            </p:nvCxnSpPr>
            <p:spPr>
              <a:xfrm>
                <a:off x="0" y="0"/>
                <a:ext cx="4048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EA580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9" name="Google Shape;289;p19"/>
              <p:cNvSpPr txBox="1"/>
              <p:nvPr/>
            </p:nvSpPr>
            <p:spPr>
              <a:xfrm>
                <a:off x="190500" y="152400"/>
                <a:ext cx="3524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EA580C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DOMAIN 04 // MODEL-BASED</a:t>
                </a:r>
                <a:endParaRPr b="0" sz="10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290" name="Google Shape;290;p19"/>
              <p:cNvSpPr txBox="1"/>
              <p:nvPr/>
            </p:nvSpPr>
            <p:spPr>
              <a:xfrm>
                <a:off x="190500" y="381000"/>
                <a:ext cx="36672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rPr>
                  <a:t>Physics Residuals</a:t>
                </a:r>
                <a:endParaRPr b="1" sz="14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91" name="Google Shape;291;p19"/>
              <p:cNvSpPr txBox="1"/>
              <p:nvPr/>
            </p:nvSpPr>
            <p:spPr>
              <a:xfrm>
                <a:off x="190500" y="685800"/>
                <a:ext cx="3667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Differences between measured quantities and model predictions.</a:t>
                </a:r>
                <a:endParaRPr b="0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97" name="Google Shape;297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8" name="Google Shape;298;p20"/>
            <p:cNvGrpSpPr/>
            <p:nvPr/>
          </p:nvGrpSpPr>
          <p:grpSpPr>
            <a:xfrm>
              <a:off x="381000" y="4757738"/>
              <a:ext cx="8382000" cy="290513"/>
              <a:chOff x="0" y="-4762"/>
              <a:chExt cx="8382000" cy="290513"/>
            </a:xfrm>
          </p:grpSpPr>
          <p:pic>
            <p:nvPicPr>
              <p:cNvPr id="299" name="Google Shape;299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-4762"/>
                <a:ext cx="8343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0" name="Google Shape;300;p20"/>
              <p:cNvSpPr txBox="1"/>
              <p:nvPr/>
            </p:nvSpPr>
            <p:spPr>
              <a:xfrm>
                <a:off x="0" y="9525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VISHWAKARMA INSTITUTE OF TECHNOLOGY | PUNE, INDIA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301" name="Google Shape;301;p20"/>
              <p:cNvSpPr txBox="1"/>
              <p:nvPr/>
            </p:nvSpPr>
            <p:spPr>
              <a:xfrm>
                <a:off x="6477000" y="9525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PHYSICS-INFORMED DIGITAL TWIN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</p:grpSp>
      <p:grpSp>
        <p:nvGrpSpPr>
          <p:cNvPr id="302" name="Google Shape;302;p20"/>
          <p:cNvGrpSpPr/>
          <p:nvPr/>
        </p:nvGrpSpPr>
        <p:grpSpPr>
          <a:xfrm>
            <a:off x="381000" y="381000"/>
            <a:ext cx="8382000" cy="4381650"/>
            <a:chOff x="0" y="0"/>
            <a:chExt cx="8382000" cy="4381650"/>
          </a:xfrm>
        </p:grpSpPr>
        <p:grpSp>
          <p:nvGrpSpPr>
            <p:cNvPr id="303" name="Google Shape;303;p20"/>
            <p:cNvGrpSpPr/>
            <p:nvPr/>
          </p:nvGrpSpPr>
          <p:grpSpPr>
            <a:xfrm>
              <a:off x="0" y="0"/>
              <a:ext cx="8382000" cy="666750"/>
              <a:chOff x="0" y="0"/>
              <a:chExt cx="8382000" cy="666750"/>
            </a:xfrm>
          </p:grpSpPr>
          <p:sp>
            <p:nvSpPr>
              <p:cNvPr id="304" name="Google Shape;304;p20"/>
              <p:cNvSpPr txBox="1"/>
              <p:nvPr/>
            </p:nvSpPr>
            <p:spPr>
              <a:xfrm>
                <a:off x="0" y="0"/>
                <a:ext cx="83820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2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Multimodal Fault Diagnosis &amp; Classifier Architecture</a:t>
                </a:r>
                <a:endParaRPr b="1" sz="222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5" name="Google Shape;305;p20"/>
              <p:cNvSpPr txBox="1"/>
              <p:nvPr/>
            </p:nvSpPr>
            <p:spPr>
              <a:xfrm>
                <a:off x="0" y="400050"/>
                <a:ext cx="8382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60">
                    <a:solidFill>
                      <a:srgbClr val="0284C7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Random forest classification framework utilizing scenario-isolated splits and fused sensor telemetry</a:t>
                </a:r>
                <a:endParaRPr b="0" sz="136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306" name="Google Shape;306;p20"/>
            <p:cNvGrpSpPr/>
            <p:nvPr/>
          </p:nvGrpSpPr>
          <p:grpSpPr>
            <a:xfrm>
              <a:off x="0" y="857250"/>
              <a:ext cx="8382000" cy="3524400"/>
              <a:chOff x="0" y="0"/>
              <a:chExt cx="8382000" cy="3524400"/>
            </a:xfrm>
          </p:grpSpPr>
          <p:grpSp>
            <p:nvGrpSpPr>
              <p:cNvPr id="307" name="Google Shape;307;p20"/>
              <p:cNvGrpSpPr/>
              <p:nvPr/>
            </p:nvGrpSpPr>
            <p:grpSpPr>
              <a:xfrm>
                <a:off x="0" y="0"/>
                <a:ext cx="4000500" cy="3524400"/>
                <a:chOff x="0" y="0"/>
                <a:chExt cx="4000500" cy="3524400"/>
              </a:xfrm>
            </p:grpSpPr>
            <p:grpSp>
              <p:nvGrpSpPr>
                <p:cNvPr id="308" name="Google Shape;308;p20"/>
                <p:cNvGrpSpPr/>
                <p:nvPr/>
              </p:nvGrpSpPr>
              <p:grpSpPr>
                <a:xfrm>
                  <a:off x="0" y="0"/>
                  <a:ext cx="4000500" cy="1143000"/>
                  <a:chOff x="0" y="0"/>
                  <a:chExt cx="4000500" cy="1143000"/>
                </a:xfrm>
              </p:grpSpPr>
              <p:sp>
                <p:nvSpPr>
                  <p:cNvPr id="309" name="Google Shape;309;p20"/>
                  <p:cNvSpPr/>
                  <p:nvPr/>
                </p:nvSpPr>
                <p:spPr>
                  <a:xfrm>
                    <a:off x="0" y="0"/>
                    <a:ext cx="4000500" cy="1143000"/>
                  </a:xfrm>
                  <a:prstGeom prst="roundRect">
                    <a:avLst>
                      <a:gd fmla="val 3333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CBD5E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10" name="Google Shape;310;p20"/>
                  <p:cNvGrpSpPr/>
                  <p:nvPr/>
                </p:nvGrpSpPr>
                <p:grpSpPr>
                  <a:xfrm>
                    <a:off x="3810000" y="76200"/>
                    <a:ext cx="114300" cy="114300"/>
                    <a:chOff x="0" y="0"/>
                    <a:chExt cx="114300" cy="114300"/>
                  </a:xfrm>
                </p:grpSpPr>
                <p:cxnSp>
                  <p:nvCxnSpPr>
                    <p:cNvPr id="311" name="Google Shape;311;p20"/>
                    <p:cNvCxnSpPr/>
                    <p:nvPr/>
                  </p:nvCxnSpPr>
                  <p:spPr>
                    <a:xfrm>
                      <a:off x="0" y="57150"/>
                      <a:ext cx="114300" cy="0"/>
                    </a:xfrm>
                    <a:prstGeom prst="straightConnector1">
                      <a:avLst/>
                    </a:prstGeom>
                    <a:solidFill>
                      <a:srgbClr val="FFFFFF"/>
                    </a:solidFill>
                    <a:ln cap="flat" cmpd="sng" w="14300">
                      <a:solidFill>
                        <a:srgbClr val="0284C7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12" name="Google Shape;312;p20"/>
                    <p:cNvCxnSpPr/>
                    <p:nvPr/>
                  </p:nvCxnSpPr>
                  <p:spPr>
                    <a:xfrm>
                      <a:off x="57150" y="0"/>
                      <a:ext cx="0" cy="114300"/>
                    </a:xfrm>
                    <a:prstGeom prst="straightConnector1">
                      <a:avLst/>
                    </a:prstGeom>
                    <a:solidFill>
                      <a:srgbClr val="FFFFFF"/>
                    </a:solidFill>
                    <a:ln cap="flat" cmpd="sng" w="14300">
                      <a:solidFill>
                        <a:srgbClr val="0284C7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  <p:sp>
                <p:nvSpPr>
                  <p:cNvPr id="313" name="Google Shape;313;p20"/>
                  <p:cNvSpPr txBox="1"/>
                  <p:nvPr/>
                </p:nvSpPr>
                <p:spPr>
                  <a:xfrm>
                    <a:off x="190500" y="152400"/>
                    <a:ext cx="36195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EA580C"/>
                        </a:solidFill>
                        <a:latin typeface="JetBrains Mono SemiBold"/>
                        <a:ea typeface="JetBrains Mono SemiBold"/>
                        <a:cs typeface="JetBrains Mono SemiBold"/>
                        <a:sym typeface="JetBrains Mono SemiBold"/>
                      </a:rPr>
                      <a:t>MODEL ARCHITECTURE</a:t>
                    </a:r>
                    <a:endParaRPr b="0" sz="1000">
                      <a:solidFill>
                        <a:srgbClr val="EA580C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endParaRPr>
                  </a:p>
                </p:txBody>
              </p:sp>
              <p:sp>
                <p:nvSpPr>
                  <p:cNvPr id="314" name="Google Shape;314;p20"/>
                  <p:cNvSpPr txBox="1"/>
                  <p:nvPr/>
                </p:nvSpPr>
                <p:spPr>
                  <a:xfrm>
                    <a:off x="190500" y="400050"/>
                    <a:ext cx="3619500" cy="628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18">
                        <a:solidFill>
                          <a:srgbClr val="47556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A </a:t>
                    </a:r>
                    <a:r>
                      <a:rPr b="1" lang="en" sz="1018">
                        <a:solidFill>
                          <a:srgbClr val="47556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random forest classifier</a:t>
                    </a:r>
                    <a:r>
                      <a:rPr b="0" lang="en" sz="1018">
                        <a:solidFill>
                          <a:srgbClr val="47556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 maps the fused feature vector directly to specific fault labels, providing robust ensemble decision-making across complex operation regimes.</a:t>
                    </a:r>
                    <a:endParaRPr b="0" sz="1018">
                      <a:solidFill>
                        <a:srgbClr val="475569"/>
                      </a:solidFill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  <p:grpSp>
              <p:nvGrpSpPr>
                <p:cNvPr id="315" name="Google Shape;315;p20"/>
                <p:cNvGrpSpPr/>
                <p:nvPr/>
              </p:nvGrpSpPr>
              <p:grpSpPr>
                <a:xfrm>
                  <a:off x="0" y="1333500"/>
                  <a:ext cx="4000500" cy="2190900"/>
                  <a:chOff x="0" y="0"/>
                  <a:chExt cx="4000500" cy="2190900"/>
                </a:xfrm>
              </p:grpSpPr>
              <p:sp>
                <p:nvSpPr>
                  <p:cNvPr id="316" name="Google Shape;316;p20"/>
                  <p:cNvSpPr/>
                  <p:nvPr/>
                </p:nvSpPr>
                <p:spPr>
                  <a:xfrm>
                    <a:off x="0" y="0"/>
                    <a:ext cx="4000500" cy="2190900"/>
                  </a:xfrm>
                  <a:prstGeom prst="roundRect">
                    <a:avLst>
                      <a:gd fmla="val 1739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CBD5E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cxnSp>
                <p:nvCxnSpPr>
                  <p:cNvPr id="317" name="Google Shape;317;p20"/>
                  <p:cNvCxnSpPr/>
                  <p:nvPr/>
                </p:nvCxnSpPr>
                <p:spPr>
                  <a:xfrm>
                    <a:off x="0" y="0"/>
                    <a:ext cx="4000500" cy="0"/>
                  </a:xfrm>
                  <a:prstGeom prst="straightConnector1">
                    <a:avLst/>
                  </a:prstGeom>
                  <a:solidFill>
                    <a:srgbClr val="FFFFFF"/>
                  </a:solidFill>
                  <a:ln cap="flat" cmpd="sng" w="19050">
                    <a:solidFill>
                      <a:srgbClr val="0284C7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318" name="Google Shape;318;p20"/>
                  <p:cNvSpPr txBox="1"/>
                  <p:nvPr/>
                </p:nvSpPr>
                <p:spPr>
                  <a:xfrm>
                    <a:off x="190500" y="190500"/>
                    <a:ext cx="36195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0284C7"/>
                        </a:solidFill>
                        <a:latin typeface="JetBrains Mono SemiBold"/>
                        <a:ea typeface="JetBrains Mono SemiBold"/>
                        <a:cs typeface="JetBrains Mono SemiBold"/>
                        <a:sym typeface="JetBrains Mono SemiBold"/>
                      </a:rPr>
                      <a:t>EVALUATION METHODOLOGY</a:t>
                    </a:r>
                    <a:endParaRPr b="0" sz="1000">
                      <a:solidFill>
                        <a:srgbClr val="0284C7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endParaRPr>
                  </a:p>
                </p:txBody>
              </p:sp>
              <p:sp>
                <p:nvSpPr>
                  <p:cNvPr id="319" name="Google Shape;319;p20"/>
                  <p:cNvSpPr txBox="1"/>
                  <p:nvPr/>
                </p:nvSpPr>
                <p:spPr>
                  <a:xfrm>
                    <a:off x="190500" y="457200"/>
                    <a:ext cx="3619500" cy="154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100">
                        <a:solidFill>
                          <a:srgbClr val="47556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Scenario-Level Data Splitting:</a:t>
                    </a:r>
                    <a:endParaRPr b="0" sz="1100">
                      <a:solidFill>
                        <a:srgbClr val="475569"/>
                      </a:solidFill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  <a:p>
                    <a:pPr indent="0" lvl="0" marL="0" rtl="0" algn="l">
                      <a:spcBef>
                        <a:spcPts val="90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100">
                        <a:solidFill>
                          <a:srgbClr val="47556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To ensure rigorous evaluation, all train and test data splits are executed strictly at the scenario level.</a:t>
                    </a:r>
                    <a:endParaRPr b="0" sz="1100">
                      <a:solidFill>
                        <a:srgbClr val="475569"/>
                      </a:solidFill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  <a:p>
                    <a:pPr indent="0" lvl="0" marL="0" rtl="0" algn="l">
                      <a:spcBef>
                        <a:spcPts val="60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100">
                        <a:solidFill>
                          <a:srgbClr val="47556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Preventing Data Leakage:</a:t>
                    </a:r>
                    <a:r>
                      <a:rPr b="0" lang="en" sz="1100">
                        <a:solidFill>
                          <a:srgbClr val="47556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 This spatial/temporal isolation guarantees zero overlap across windowed samples, preventing opportunistic data leakage and validating true dynamic generalization.</a:t>
                    </a:r>
                    <a:endParaRPr b="0" sz="1100">
                      <a:solidFill>
                        <a:srgbClr val="475569"/>
                      </a:solidFill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grpSp>
            <p:nvGrpSpPr>
              <p:cNvPr id="320" name="Google Shape;320;p20"/>
              <p:cNvGrpSpPr/>
              <p:nvPr/>
            </p:nvGrpSpPr>
            <p:grpSpPr>
              <a:xfrm>
                <a:off x="4191000" y="0"/>
                <a:ext cx="4191000" cy="3524100"/>
                <a:chOff x="0" y="0"/>
                <a:chExt cx="4191000" cy="3524100"/>
              </a:xfrm>
            </p:grpSpPr>
            <p:grpSp>
              <p:nvGrpSpPr>
                <p:cNvPr id="321" name="Google Shape;321;p20"/>
                <p:cNvGrpSpPr/>
                <p:nvPr/>
              </p:nvGrpSpPr>
              <p:grpSpPr>
                <a:xfrm>
                  <a:off x="0" y="0"/>
                  <a:ext cx="4191000" cy="1714500"/>
                  <a:chOff x="0" y="0"/>
                  <a:chExt cx="4191000" cy="1714500"/>
                </a:xfrm>
              </p:grpSpPr>
              <p:sp>
                <p:nvSpPr>
                  <p:cNvPr id="322" name="Google Shape;322;p20"/>
                  <p:cNvSpPr/>
                  <p:nvPr/>
                </p:nvSpPr>
                <p:spPr>
                  <a:xfrm>
                    <a:off x="0" y="0"/>
                    <a:ext cx="4191000" cy="1714500"/>
                  </a:xfrm>
                  <a:prstGeom prst="roundRect">
                    <a:avLst>
                      <a:gd fmla="val 2222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CBD5E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3" name="Google Shape;323;p20"/>
                  <p:cNvSpPr txBox="1"/>
                  <p:nvPr/>
                </p:nvSpPr>
                <p:spPr>
                  <a:xfrm>
                    <a:off x="190500" y="152400"/>
                    <a:ext cx="38100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EA580C"/>
                        </a:solidFill>
                        <a:latin typeface="JetBrains Mono SemiBold"/>
                        <a:ea typeface="JetBrains Mono SemiBold"/>
                        <a:cs typeface="JetBrains Mono SemiBold"/>
                        <a:sym typeface="JetBrains Mono SemiBold"/>
                      </a:rPr>
                      <a:t>FUSED FEATURE INPUTS</a:t>
                    </a:r>
                    <a:endParaRPr b="0" sz="1000">
                      <a:solidFill>
                        <a:srgbClr val="EA580C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endParaRPr>
                  </a:p>
                </p:txBody>
              </p:sp>
              <p:grpSp>
                <p:nvGrpSpPr>
                  <p:cNvPr id="324" name="Google Shape;324;p20"/>
                  <p:cNvGrpSpPr/>
                  <p:nvPr/>
                </p:nvGrpSpPr>
                <p:grpSpPr>
                  <a:xfrm>
                    <a:off x="190500" y="457200"/>
                    <a:ext cx="3810000" cy="342900"/>
                    <a:chOff x="0" y="0"/>
                    <a:chExt cx="3810000" cy="342900"/>
                  </a:xfrm>
                </p:grpSpPr>
                <p:grpSp>
                  <p:nvGrpSpPr>
                    <p:cNvPr id="325" name="Google Shape;325;p20"/>
                    <p:cNvGrpSpPr/>
                    <p:nvPr/>
                  </p:nvGrpSpPr>
                  <p:grpSpPr>
                    <a:xfrm>
                      <a:off x="0" y="0"/>
                      <a:ext cx="1143000" cy="342900"/>
                      <a:chOff x="0" y="0"/>
                      <a:chExt cx="1143000" cy="342900"/>
                    </a:xfrm>
                  </p:grpSpPr>
                  <p:sp>
                    <p:nvSpPr>
                      <p:cNvPr id="326" name="Google Shape;326;p20"/>
                      <p:cNvSpPr/>
                      <p:nvPr/>
                    </p:nvSpPr>
                    <p:spPr>
                      <a:xfrm>
                        <a:off x="0" y="0"/>
                        <a:ext cx="1143000" cy="342900"/>
                      </a:xfrm>
                      <a:prstGeom prst="roundRect">
                        <a:avLst>
                          <a:gd fmla="val 5555" name="adj"/>
                        </a:avLst>
                      </a:prstGeom>
                      <a:solidFill>
                        <a:srgbClr val="F1F5F9"/>
                      </a:solidFill>
                      <a:ln cap="flat" cmpd="sng" w="9525">
                        <a:solidFill>
                          <a:srgbClr val="CBD5E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27" name="Google Shape;327;p20"/>
                      <p:cNvSpPr txBox="1"/>
                      <p:nvPr/>
                    </p:nvSpPr>
                    <p:spPr>
                      <a:xfrm>
                        <a:off x="0" y="0"/>
                        <a:ext cx="114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0" lang="en" sz="1000">
                            <a:solidFill>
                              <a:srgbClr val="0F172A"/>
                            </a:solidFill>
                            <a:latin typeface="Open Sans SemiBold"/>
                            <a:ea typeface="Open Sans SemiBold"/>
                            <a:cs typeface="Open Sans SemiBold"/>
                            <a:sym typeface="Open Sans SemiBold"/>
                          </a:rPr>
                          <a:t>Vibration</a:t>
                        </a:r>
                        <a:endParaRPr b="0" sz="1000">
                          <a:solidFill>
                            <a:srgbClr val="0F172A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endParaRPr>
                      </a:p>
                    </p:txBody>
                  </p:sp>
                </p:grpSp>
                <p:grpSp>
                  <p:nvGrpSpPr>
                    <p:cNvPr id="328" name="Google Shape;328;p20"/>
                    <p:cNvGrpSpPr/>
                    <p:nvPr/>
                  </p:nvGrpSpPr>
                  <p:grpSpPr>
                    <a:xfrm>
                      <a:off x="1333500" y="0"/>
                      <a:ext cx="1143000" cy="342900"/>
                      <a:chOff x="0" y="0"/>
                      <a:chExt cx="1143000" cy="342900"/>
                    </a:xfrm>
                  </p:grpSpPr>
                  <p:sp>
                    <p:nvSpPr>
                      <p:cNvPr id="329" name="Google Shape;329;p20"/>
                      <p:cNvSpPr/>
                      <p:nvPr/>
                    </p:nvSpPr>
                    <p:spPr>
                      <a:xfrm>
                        <a:off x="0" y="0"/>
                        <a:ext cx="1143000" cy="342900"/>
                      </a:xfrm>
                      <a:prstGeom prst="roundRect">
                        <a:avLst>
                          <a:gd fmla="val 5555" name="adj"/>
                        </a:avLst>
                      </a:prstGeom>
                      <a:solidFill>
                        <a:srgbClr val="F1F5F9"/>
                      </a:solidFill>
                      <a:ln cap="flat" cmpd="sng" w="9525">
                        <a:solidFill>
                          <a:srgbClr val="CBD5E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30" name="Google Shape;330;p20"/>
                      <p:cNvSpPr txBox="1"/>
                      <p:nvPr/>
                    </p:nvSpPr>
                    <p:spPr>
                      <a:xfrm>
                        <a:off x="0" y="0"/>
                        <a:ext cx="114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0" lang="en" sz="1000">
                            <a:solidFill>
                              <a:srgbClr val="0F172A"/>
                            </a:solidFill>
                            <a:latin typeface="Open Sans SemiBold"/>
                            <a:ea typeface="Open Sans SemiBold"/>
                            <a:cs typeface="Open Sans SemiBold"/>
                            <a:sym typeface="Open Sans SemiBold"/>
                          </a:rPr>
                          <a:t>Current</a:t>
                        </a:r>
                        <a:endParaRPr b="0" sz="1000">
                          <a:solidFill>
                            <a:srgbClr val="0F172A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endParaRPr>
                      </a:p>
                    </p:txBody>
                  </p:sp>
                </p:grpSp>
                <p:grpSp>
                  <p:nvGrpSpPr>
                    <p:cNvPr id="331" name="Google Shape;331;p20"/>
                    <p:cNvGrpSpPr/>
                    <p:nvPr/>
                  </p:nvGrpSpPr>
                  <p:grpSpPr>
                    <a:xfrm>
                      <a:off x="2667000" y="0"/>
                      <a:ext cx="1143000" cy="342900"/>
                      <a:chOff x="0" y="0"/>
                      <a:chExt cx="1143000" cy="342900"/>
                    </a:xfrm>
                  </p:grpSpPr>
                  <p:sp>
                    <p:nvSpPr>
                      <p:cNvPr id="332" name="Google Shape;332;p20"/>
                      <p:cNvSpPr/>
                      <p:nvPr/>
                    </p:nvSpPr>
                    <p:spPr>
                      <a:xfrm>
                        <a:off x="0" y="0"/>
                        <a:ext cx="1143000" cy="342900"/>
                      </a:xfrm>
                      <a:prstGeom prst="roundRect">
                        <a:avLst>
                          <a:gd fmla="val 5555" name="adj"/>
                        </a:avLst>
                      </a:prstGeom>
                      <a:solidFill>
                        <a:srgbClr val="F1F5F9"/>
                      </a:solidFill>
                      <a:ln cap="flat" cmpd="sng" w="9525">
                        <a:solidFill>
                          <a:srgbClr val="CBD5E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33" name="Google Shape;333;p20"/>
                      <p:cNvSpPr txBox="1"/>
                      <p:nvPr/>
                    </p:nvSpPr>
                    <p:spPr>
                      <a:xfrm>
                        <a:off x="0" y="0"/>
                        <a:ext cx="114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0" lang="en" sz="1000">
                            <a:solidFill>
                              <a:srgbClr val="0F172A"/>
                            </a:solidFill>
                            <a:latin typeface="Open Sans SemiBold"/>
                            <a:ea typeface="Open Sans SemiBold"/>
                            <a:cs typeface="Open Sans SemiBold"/>
                            <a:sym typeface="Open Sans SemiBold"/>
                          </a:rPr>
                          <a:t>Operating State</a:t>
                        </a:r>
                        <a:endParaRPr b="0" sz="1000">
                          <a:solidFill>
                            <a:srgbClr val="0F172A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endParaRPr>
                      </a:p>
                    </p:txBody>
                  </p:sp>
                </p:grpSp>
              </p:grpSp>
              <p:sp>
                <p:nvSpPr>
                  <p:cNvPr id="334" name="Google Shape;334;p20"/>
                  <p:cNvSpPr txBox="1"/>
                  <p:nvPr/>
                </p:nvSpPr>
                <p:spPr>
                  <a:xfrm>
                    <a:off x="190500" y="952500"/>
                    <a:ext cx="3810000" cy="647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100">
                        <a:solidFill>
                          <a:srgbClr val="47556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Multi-sensor integration captures complementary physical phenomena, synthesizing mechanical motion, electrical draw, and system parameters into a cohesive vector.</a:t>
                    </a:r>
                    <a:endParaRPr b="0" sz="1100">
                      <a:solidFill>
                        <a:srgbClr val="475569"/>
                      </a:solidFill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  <p:grpSp>
              <p:nvGrpSpPr>
                <p:cNvPr id="335" name="Google Shape;335;p20"/>
                <p:cNvGrpSpPr/>
                <p:nvPr/>
              </p:nvGrpSpPr>
              <p:grpSpPr>
                <a:xfrm>
                  <a:off x="0" y="1905000"/>
                  <a:ext cx="4191000" cy="1619100"/>
                  <a:chOff x="0" y="0"/>
                  <a:chExt cx="4191000" cy="1619100"/>
                </a:xfrm>
              </p:grpSpPr>
              <p:sp>
                <p:nvSpPr>
                  <p:cNvPr id="336" name="Google Shape;336;p20"/>
                  <p:cNvSpPr/>
                  <p:nvPr/>
                </p:nvSpPr>
                <p:spPr>
                  <a:xfrm>
                    <a:off x="0" y="0"/>
                    <a:ext cx="4191000" cy="1619100"/>
                  </a:xfrm>
                  <a:prstGeom prst="roundRect">
                    <a:avLst>
                      <a:gd fmla="val 2352" name="adj"/>
                    </a:avLst>
                  </a:prstGeom>
                  <a:solidFill>
                    <a:srgbClr val="FFF7ED"/>
                  </a:solidFill>
                  <a:ln cap="flat" cmpd="sng" w="9525">
                    <a:solidFill>
                      <a:srgbClr val="EA580C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" name="Google Shape;337;p20"/>
                  <p:cNvSpPr/>
                  <p:nvPr/>
                </p:nvSpPr>
                <p:spPr>
                  <a:xfrm>
                    <a:off x="0" y="0"/>
                    <a:ext cx="57300" cy="1619100"/>
                  </a:xfrm>
                  <a:prstGeom prst="roundRect">
                    <a:avLst>
                      <a:gd fmla="val 33333" name="adj"/>
                    </a:avLst>
                  </a:prstGeom>
                  <a:solidFill>
                    <a:srgbClr val="EA580C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38" name="Google Shape;338;p20"/>
                  <p:cNvGrpSpPr/>
                  <p:nvPr/>
                </p:nvGrpSpPr>
                <p:grpSpPr>
                  <a:xfrm>
                    <a:off x="3981450" y="114300"/>
                    <a:ext cx="114300" cy="114300"/>
                    <a:chOff x="0" y="0"/>
                    <a:chExt cx="114300" cy="114300"/>
                  </a:xfrm>
                </p:grpSpPr>
                <p:cxnSp>
                  <p:nvCxnSpPr>
                    <p:cNvPr id="339" name="Google Shape;339;p20"/>
                    <p:cNvCxnSpPr/>
                    <p:nvPr/>
                  </p:nvCxnSpPr>
                  <p:spPr>
                    <a:xfrm>
                      <a:off x="0" y="57150"/>
                      <a:ext cx="114300" cy="0"/>
                    </a:xfrm>
                    <a:prstGeom prst="straightConnector1">
                      <a:avLst/>
                    </a:prstGeom>
                    <a:solidFill>
                      <a:srgbClr val="FFFFFF"/>
                    </a:solidFill>
                    <a:ln cap="flat" cmpd="sng" w="14300">
                      <a:solidFill>
                        <a:srgbClr val="0284C7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40" name="Google Shape;340;p20"/>
                    <p:cNvCxnSpPr/>
                    <p:nvPr/>
                  </p:nvCxnSpPr>
                  <p:spPr>
                    <a:xfrm>
                      <a:off x="57150" y="0"/>
                      <a:ext cx="0" cy="114300"/>
                    </a:xfrm>
                    <a:prstGeom prst="straightConnector1">
                      <a:avLst/>
                    </a:prstGeom>
                    <a:solidFill>
                      <a:srgbClr val="FFFFFF"/>
                    </a:solidFill>
                    <a:ln cap="flat" cmpd="sng" w="14300">
                      <a:solidFill>
                        <a:srgbClr val="0284C7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  <p:sp>
                <p:nvSpPr>
                  <p:cNvPr id="341" name="Google Shape;341;p20"/>
                  <p:cNvSpPr txBox="1"/>
                  <p:nvPr/>
                </p:nvSpPr>
                <p:spPr>
                  <a:xfrm>
                    <a:off x="228600" y="171450"/>
                    <a:ext cx="37149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EA580C"/>
                        </a:solidFill>
                        <a:latin typeface="JetBrains Mono SemiBold"/>
                        <a:ea typeface="JetBrains Mono SemiBold"/>
                        <a:cs typeface="JetBrains Mono SemiBold"/>
                        <a:sym typeface="JetBrains Mono SemiBold"/>
                      </a:rPr>
                      <a:t>ABLATION STUDY FINDINGS</a:t>
                    </a:r>
                    <a:endParaRPr b="0" sz="1000">
                      <a:solidFill>
                        <a:srgbClr val="EA580C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endParaRPr>
                  </a:p>
                </p:txBody>
              </p:sp>
              <p:sp>
                <p:nvSpPr>
                  <p:cNvPr id="342" name="Google Shape;342;p20"/>
                  <p:cNvSpPr txBox="1"/>
                  <p:nvPr/>
                </p:nvSpPr>
                <p:spPr>
                  <a:xfrm>
                    <a:off x="228600" y="438150"/>
                    <a:ext cx="3733800" cy="1047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18">
                        <a:solidFill>
                          <a:srgbClr val="EA580C"/>
                        </a:solidFill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rPr>
                      <a:t>Tri-Modal Fusion Is Essential</a:t>
                    </a:r>
                    <a:endParaRPr b="0" sz="1018">
                      <a:solidFill>
                        <a:srgbClr val="EA580C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endParaRPr>
                  </a:p>
                  <a:p>
                    <a:pPr indent="0" lvl="0" marL="0" rtl="0" algn="l">
                      <a:spcBef>
                        <a:spcPts val="60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18">
                        <a:solidFill>
                          <a:srgbClr val="0F172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Ablation studies confirm that fusing </a:t>
                    </a:r>
                    <a:r>
                      <a:rPr b="1" lang="en" sz="1018">
                        <a:solidFill>
                          <a:srgbClr val="0F172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vibration, current, and operating-state</a:t>
                    </a:r>
                    <a:r>
                      <a:rPr b="0" lang="en" sz="1018">
                        <a:solidFill>
                          <a:srgbClr val="0F172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 features is necessary to achieve optimal classification accuracy across all modeled fault classes. Removing any single modality leads to significant accuracy degradation.</a:t>
                    </a:r>
                    <a:endParaRPr b="0" sz="1018">
                      <a:solidFill>
                        <a:srgbClr val="0F172A"/>
                      </a:solidFill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047750"/>
            <a:ext cx="9600" cy="339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21"/>
          <p:cNvGrpSpPr/>
          <p:nvPr/>
        </p:nvGrpSpPr>
        <p:grpSpPr>
          <a:xfrm>
            <a:off x="4514850" y="990600"/>
            <a:ext cx="114300" cy="114300"/>
            <a:chOff x="0" y="0"/>
            <a:chExt cx="114300" cy="114300"/>
          </a:xfrm>
        </p:grpSpPr>
        <p:cxnSp>
          <p:nvCxnSpPr>
            <p:cNvPr id="350" name="Google Shape;350;p21"/>
            <p:cNvCxnSpPr/>
            <p:nvPr/>
          </p:nvCxnSpPr>
          <p:spPr>
            <a:xfrm>
              <a:off x="0" y="5715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1" name="Google Shape;351;p21"/>
            <p:cNvCxnSpPr/>
            <p:nvPr/>
          </p:nvCxnSpPr>
          <p:spPr>
            <a:xfrm>
              <a:off x="57150" y="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2" name="Google Shape;352;p21"/>
          <p:cNvGrpSpPr/>
          <p:nvPr/>
        </p:nvGrpSpPr>
        <p:grpSpPr>
          <a:xfrm>
            <a:off x="4514850" y="4476750"/>
            <a:ext cx="114300" cy="114300"/>
            <a:chOff x="0" y="0"/>
            <a:chExt cx="114300" cy="114300"/>
          </a:xfrm>
        </p:grpSpPr>
        <p:cxnSp>
          <p:nvCxnSpPr>
            <p:cNvPr id="353" name="Google Shape;353;p21"/>
            <p:cNvCxnSpPr/>
            <p:nvPr/>
          </p:nvCxnSpPr>
          <p:spPr>
            <a:xfrm>
              <a:off x="0" y="5715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4" name="Google Shape;354;p21"/>
            <p:cNvCxnSpPr/>
            <p:nvPr/>
          </p:nvCxnSpPr>
          <p:spPr>
            <a:xfrm>
              <a:off x="57150" y="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5" name="Google Shape;355;p21"/>
          <p:cNvGrpSpPr/>
          <p:nvPr/>
        </p:nvGrpSpPr>
        <p:grpSpPr>
          <a:xfrm>
            <a:off x="381000" y="381000"/>
            <a:ext cx="8382000" cy="462038"/>
            <a:chOff x="0" y="0"/>
            <a:chExt cx="8382000" cy="462038"/>
          </a:xfrm>
        </p:grpSpPr>
        <p:sp>
          <p:nvSpPr>
            <p:cNvPr id="356" name="Google Shape;356;p21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Health Index &amp; Remaining Useful Life (RUL) Estimation</a:t>
              </a:r>
              <a:endParaRPr b="1" sz="24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7" name="Google Shape;35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52438"/>
              <a:ext cx="8343900" cy="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" name="Google Shape;358;p21"/>
          <p:cNvGrpSpPr/>
          <p:nvPr/>
        </p:nvGrpSpPr>
        <p:grpSpPr>
          <a:xfrm>
            <a:off x="381000" y="1047750"/>
            <a:ext cx="3905400" cy="3238425"/>
            <a:chOff x="0" y="0"/>
            <a:chExt cx="3905400" cy="3238425"/>
          </a:xfrm>
        </p:grpSpPr>
        <p:sp>
          <p:nvSpPr>
            <p:cNvPr id="359" name="Google Shape;359;p21"/>
            <p:cNvSpPr txBox="1"/>
            <p:nvPr/>
          </p:nvSpPr>
          <p:spPr>
            <a:xfrm>
              <a:off x="0" y="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Dynamic Health Index (HI)</a:t>
              </a:r>
              <a:endParaRPr b="0" sz="1500">
                <a:solidFill>
                  <a:srgbClr val="0284C7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60" name="Google Shape;360;p21"/>
            <p:cNvSpPr txBox="1"/>
            <p:nvPr/>
          </p:nvSpPr>
          <p:spPr>
            <a:xfrm>
              <a:off x="0" y="333375"/>
              <a:ext cx="3905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The Health Index (HI) is derived dynamically from the worst active fault severity relative to a critical threshold.</a:t>
              </a:r>
              <a:endParaRPr b="0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61" name="Google Shape;361;p21"/>
            <p:cNvGrpSpPr/>
            <p:nvPr/>
          </p:nvGrpSpPr>
          <p:grpSpPr>
            <a:xfrm>
              <a:off x="0" y="1047750"/>
              <a:ext cx="3905400" cy="952500"/>
              <a:chOff x="0" y="0"/>
              <a:chExt cx="3905400" cy="952500"/>
            </a:xfrm>
          </p:grpSpPr>
          <p:sp>
            <p:nvSpPr>
              <p:cNvPr id="362" name="Google Shape;362;p21"/>
              <p:cNvSpPr/>
              <p:nvPr/>
            </p:nvSpPr>
            <p:spPr>
              <a:xfrm>
                <a:off x="0" y="0"/>
                <a:ext cx="3905400" cy="952500"/>
              </a:xfrm>
              <a:prstGeom prst="roundRect">
                <a:avLst>
                  <a:gd fmla="val 4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63" name="Google Shape;363;p21"/>
              <p:cNvGrpSpPr/>
              <p:nvPr/>
            </p:nvGrpSpPr>
            <p:grpSpPr>
              <a:xfrm>
                <a:off x="3714750" y="76200"/>
                <a:ext cx="114300" cy="114300"/>
                <a:chOff x="0" y="0"/>
                <a:chExt cx="114300" cy="114300"/>
              </a:xfrm>
            </p:grpSpPr>
            <p:cxnSp>
              <p:nvCxnSpPr>
                <p:cNvPr id="364" name="Google Shape;364;p21"/>
                <p:cNvCxnSpPr/>
                <p:nvPr/>
              </p:nvCxnSpPr>
              <p:spPr>
                <a:xfrm>
                  <a:off x="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21"/>
                <p:cNvCxnSpPr/>
                <p:nvPr/>
              </p:nvCxnSpPr>
              <p:spPr>
                <a:xfrm>
                  <a:off x="57150" y="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66" name="Google Shape;366;p21"/>
              <p:cNvSpPr txBox="1"/>
              <p:nvPr/>
            </p:nvSpPr>
            <p:spPr>
              <a:xfrm>
                <a:off x="190500" y="152400"/>
                <a:ext cx="3429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EA580C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DYNAMIC HEALTH INDEX (HI)</a:t>
                </a:r>
                <a:endParaRPr b="0" sz="10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367" name="Google Shape;367;p21"/>
              <p:cNvSpPr txBox="1"/>
              <p:nvPr/>
            </p:nvSpPr>
            <p:spPr>
              <a:xfrm>
                <a:off x="190500" y="381000"/>
                <a:ext cx="3429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96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rPr>
                  <a:t>HI = f(S</a:t>
                </a:r>
                <a:r>
                  <a:rPr b="1" lang="en" sz="1850">
                    <a:solidFill>
                      <a:srgbClr val="475569"/>
                    </a:solidFill>
                    <a:latin typeface="Roboto"/>
                    <a:ea typeface="Roboto"/>
                    <a:cs typeface="Roboto"/>
                    <a:sym typeface="Roboto"/>
                  </a:rPr>
                  <a:t>max</a:t>
                </a:r>
                <a:r>
                  <a:rPr b="1" lang="en" sz="296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rPr>
                  <a:t> / S</a:t>
                </a:r>
                <a:r>
                  <a:rPr b="1" lang="en" sz="1850">
                    <a:solidFill>
                      <a:srgbClr val="475569"/>
                    </a:solidFill>
                    <a:latin typeface="Roboto"/>
                    <a:ea typeface="Roboto"/>
                    <a:cs typeface="Roboto"/>
                    <a:sym typeface="Roboto"/>
                  </a:rPr>
                  <a:t>crit</a:t>
                </a:r>
                <a:r>
                  <a:rPr b="1" lang="en" sz="296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rPr>
                  <a:t>)</a:t>
                </a:r>
                <a:endParaRPr b="1" sz="296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68" name="Google Shape;368;p21"/>
            <p:cNvGrpSpPr/>
            <p:nvPr/>
          </p:nvGrpSpPr>
          <p:grpSpPr>
            <a:xfrm>
              <a:off x="0" y="2143125"/>
              <a:ext cx="3905400" cy="1095300"/>
              <a:chOff x="0" y="0"/>
              <a:chExt cx="3905400" cy="1095300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0" y="0"/>
                <a:ext cx="3905400" cy="1095300"/>
              </a:xfrm>
              <a:prstGeom prst="roundRect">
                <a:avLst>
                  <a:gd fmla="val 3478" name="adj"/>
                </a:avLst>
              </a:prstGeom>
              <a:solidFill>
                <a:srgbClr val="FFF7ED"/>
              </a:solidFill>
              <a:ln cap="flat" cmpd="sng" w="9525">
                <a:solidFill>
                  <a:srgbClr val="EA58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0" y="0"/>
                <a:ext cx="57300" cy="1095300"/>
              </a:xfrm>
              <a:prstGeom prst="roundRect">
                <a:avLst>
                  <a:gd fmla="val 33333" name="adj"/>
                </a:avLst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1"/>
              <p:cNvSpPr txBox="1"/>
              <p:nvPr/>
            </p:nvSpPr>
            <p:spPr>
              <a:xfrm>
                <a:off x="190500" y="152400"/>
                <a:ext cx="3524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EA580C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CRITICAL FAULT EVALUATION</a:t>
                </a:r>
                <a:endParaRPr b="0" sz="10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372" name="Google Shape;372;p21"/>
              <p:cNvSpPr txBox="1"/>
              <p:nvPr/>
            </p:nvSpPr>
            <p:spPr>
              <a:xfrm>
                <a:off x="190500" y="381000"/>
                <a:ext cx="3524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Monitors active fault instances in real time. The overall system HI reflects the highest-severity degradation vector to ensure immediate risk visibility.</a:t>
                </a:r>
                <a:endParaRPr b="0" sz="11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73" name="Google Shape;373;p21"/>
          <p:cNvGrpSpPr/>
          <p:nvPr/>
        </p:nvGrpSpPr>
        <p:grpSpPr>
          <a:xfrm>
            <a:off x="4857750" y="1047750"/>
            <a:ext cx="3905400" cy="3238425"/>
            <a:chOff x="0" y="0"/>
            <a:chExt cx="3905400" cy="3238425"/>
          </a:xfrm>
        </p:grpSpPr>
        <p:sp>
          <p:nvSpPr>
            <p:cNvPr id="374" name="Google Shape;374;p21"/>
            <p:cNvSpPr txBox="1"/>
            <p:nvPr/>
          </p:nvSpPr>
          <p:spPr>
            <a:xfrm>
              <a:off x="0" y="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RUL Estimation &amp; Prevention Guard</a:t>
              </a:r>
              <a:endParaRPr b="0" sz="1500">
                <a:solidFill>
                  <a:srgbClr val="0284C7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75" name="Google Shape;375;p21"/>
            <p:cNvSpPr txBox="1"/>
            <p:nvPr/>
          </p:nvSpPr>
          <p:spPr>
            <a:xfrm>
              <a:off x="0" y="333375"/>
              <a:ext cx="3905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The Remaining Useful Life (RUL) is estimated using a least-squares linear fit over a recent history window of HI values.</a:t>
              </a:r>
              <a:endParaRPr b="0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76" name="Google Shape;376;p21"/>
            <p:cNvGrpSpPr/>
            <p:nvPr/>
          </p:nvGrpSpPr>
          <p:grpSpPr>
            <a:xfrm>
              <a:off x="0" y="1047750"/>
              <a:ext cx="3905400" cy="952500"/>
              <a:chOff x="0" y="0"/>
              <a:chExt cx="3905400" cy="952500"/>
            </a:xfrm>
          </p:grpSpPr>
          <p:sp>
            <p:nvSpPr>
              <p:cNvPr id="377" name="Google Shape;377;p21"/>
              <p:cNvSpPr/>
              <p:nvPr/>
            </p:nvSpPr>
            <p:spPr>
              <a:xfrm>
                <a:off x="0" y="0"/>
                <a:ext cx="3905400" cy="952500"/>
              </a:xfrm>
              <a:prstGeom prst="roundRect">
                <a:avLst>
                  <a:gd fmla="val 4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78" name="Google Shape;378;p21"/>
              <p:cNvGrpSpPr/>
              <p:nvPr/>
            </p:nvGrpSpPr>
            <p:grpSpPr>
              <a:xfrm>
                <a:off x="3714750" y="76200"/>
                <a:ext cx="114300" cy="114300"/>
                <a:chOff x="0" y="0"/>
                <a:chExt cx="114300" cy="114300"/>
              </a:xfrm>
            </p:grpSpPr>
            <p:cxnSp>
              <p:nvCxnSpPr>
                <p:cNvPr id="379" name="Google Shape;379;p21"/>
                <p:cNvCxnSpPr/>
                <p:nvPr/>
              </p:nvCxnSpPr>
              <p:spPr>
                <a:xfrm>
                  <a:off x="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80" name="Google Shape;380;p21"/>
                <p:cNvCxnSpPr/>
                <p:nvPr/>
              </p:nvCxnSpPr>
              <p:spPr>
                <a:xfrm>
                  <a:off x="57150" y="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81" name="Google Shape;381;p21"/>
              <p:cNvSpPr txBox="1"/>
              <p:nvPr/>
            </p:nvSpPr>
            <p:spPr>
              <a:xfrm>
                <a:off x="190500" y="152400"/>
                <a:ext cx="3429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284C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TREND FITTING METHOD</a:t>
                </a:r>
                <a:endParaRPr b="0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382" name="Google Shape;382;p21"/>
              <p:cNvSpPr txBox="1"/>
              <p:nvPr/>
            </p:nvSpPr>
            <p:spPr>
              <a:xfrm>
                <a:off x="190500" y="381000"/>
                <a:ext cx="3524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0F172A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Least-Squares Linear Regression</a:t>
                </a:r>
                <a:endParaRPr b="0" sz="1018">
                  <a:solidFill>
                    <a:srgbClr val="0F172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25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Evaluated dynamically over a rolling historical sample window.</a:t>
                </a:r>
                <a:endParaRPr b="0" sz="925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83" name="Google Shape;383;p21"/>
            <p:cNvGrpSpPr/>
            <p:nvPr/>
          </p:nvGrpSpPr>
          <p:grpSpPr>
            <a:xfrm>
              <a:off x="0" y="2143125"/>
              <a:ext cx="3905400" cy="1095300"/>
              <a:chOff x="0" y="0"/>
              <a:chExt cx="3905400" cy="1095300"/>
            </a:xfrm>
          </p:grpSpPr>
          <p:sp>
            <p:nvSpPr>
              <p:cNvPr id="384" name="Google Shape;384;p21"/>
              <p:cNvSpPr/>
              <p:nvPr/>
            </p:nvSpPr>
            <p:spPr>
              <a:xfrm>
                <a:off x="0" y="0"/>
                <a:ext cx="3905400" cy="1095300"/>
              </a:xfrm>
              <a:prstGeom prst="roundRect">
                <a:avLst>
                  <a:gd fmla="val 347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1"/>
              <p:cNvSpPr/>
              <p:nvPr/>
            </p:nvSpPr>
            <p:spPr>
              <a:xfrm>
                <a:off x="0" y="0"/>
                <a:ext cx="57300" cy="1095300"/>
              </a:xfrm>
              <a:prstGeom prst="roundRect">
                <a:avLst>
                  <a:gd fmla="val 33333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1"/>
              <p:cNvSpPr txBox="1"/>
              <p:nvPr/>
            </p:nvSpPr>
            <p:spPr>
              <a:xfrm>
                <a:off x="190500" y="152400"/>
                <a:ext cx="3524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284C7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SPECULATIVE-LIFESPAN PREVENTION</a:t>
                </a:r>
                <a:endParaRPr b="0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387" name="Google Shape;387;p21"/>
              <p:cNvSpPr txBox="1"/>
              <p:nvPr/>
            </p:nvSpPr>
            <p:spPr>
              <a:xfrm>
                <a:off x="190500" y="381000"/>
                <a:ext cx="3524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Crucially, the system is designed to </a:t>
                </a:r>
                <a:r>
                  <a:rPr b="1" lang="en" sz="1018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return no RUL value</a:t>
                </a:r>
                <a:r>
                  <a:rPr b="0" lang="en" sz="1018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when the trend does not degrade, avoiding the common pitfall of reporting invented or speculative lifespans.</a:t>
                </a:r>
                <a:endParaRPr b="0" sz="1018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93" name="Google Shape;393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4" name="Google Shape;394;p22"/>
            <p:cNvGrpSpPr/>
            <p:nvPr/>
          </p:nvGrpSpPr>
          <p:grpSpPr>
            <a:xfrm>
              <a:off x="381000" y="4757738"/>
              <a:ext cx="8382000" cy="290513"/>
              <a:chOff x="0" y="-4762"/>
              <a:chExt cx="8382000" cy="290513"/>
            </a:xfrm>
          </p:grpSpPr>
          <p:pic>
            <p:nvPicPr>
              <p:cNvPr id="395" name="Google Shape;395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-4762"/>
                <a:ext cx="8343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6" name="Google Shape;396;p22"/>
              <p:cNvSpPr txBox="1"/>
              <p:nvPr/>
            </p:nvSpPr>
            <p:spPr>
              <a:xfrm>
                <a:off x="0" y="9525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VISHWAKARMA INSTITUTE OF TECHNOLOGY | PUNE, INDIA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397" name="Google Shape;397;p22"/>
              <p:cNvSpPr txBox="1"/>
              <p:nvPr/>
            </p:nvSpPr>
            <p:spPr>
              <a:xfrm>
                <a:off x="6477000" y="9525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PHYSICS-INFORMED DIGITAL TWIN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</p:grpSp>
      <p:sp>
        <p:nvSpPr>
          <p:cNvPr id="398" name="Google Shape;398;p22"/>
          <p:cNvSpPr txBox="1"/>
          <p:nvPr/>
        </p:nvSpPr>
        <p:spPr>
          <a:xfrm>
            <a:off x="381000" y="3810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Physics-Informed Fault-to-Thermal Twin Model</a:t>
            </a:r>
            <a:endParaRPr b="1" sz="2405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99" name="Google Shape;399;p22"/>
          <p:cNvGrpSpPr/>
          <p:nvPr/>
        </p:nvGrpSpPr>
        <p:grpSpPr>
          <a:xfrm>
            <a:off x="381000" y="904875"/>
            <a:ext cx="8382000" cy="723900"/>
            <a:chOff x="0" y="0"/>
            <a:chExt cx="8382000" cy="723900"/>
          </a:xfrm>
        </p:grpSpPr>
        <p:cxnSp>
          <p:nvCxnSpPr>
            <p:cNvPr id="400" name="Google Shape;400;p22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1" name="Google Shape;401;p22"/>
            <p:cNvSpPr txBox="1"/>
            <p:nvPr/>
          </p:nvSpPr>
          <p:spPr>
            <a:xfrm>
              <a:off x="0" y="1524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Equipment degradation is converted into a cooling effectiveness metric, which is then fed into a lumped first-order thermal model of the server zone.</a:t>
              </a:r>
              <a:endParaRPr b="0" sz="12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2" name="Google Shape;402;p22"/>
          <p:cNvGrpSpPr/>
          <p:nvPr/>
        </p:nvGrpSpPr>
        <p:grpSpPr>
          <a:xfrm>
            <a:off x="381000" y="1714500"/>
            <a:ext cx="5048400" cy="2762400"/>
            <a:chOff x="0" y="0"/>
            <a:chExt cx="5048400" cy="2762400"/>
          </a:xfrm>
        </p:grpSpPr>
        <p:sp>
          <p:nvSpPr>
            <p:cNvPr id="403" name="Google Shape;403;p22"/>
            <p:cNvSpPr/>
            <p:nvPr/>
          </p:nvSpPr>
          <p:spPr>
            <a:xfrm>
              <a:off x="0" y="0"/>
              <a:ext cx="5048400" cy="2762400"/>
            </a:xfrm>
            <a:prstGeom prst="roundRect">
              <a:avLst>
                <a:gd fmla="val 137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4" name="Google Shape;404;p22"/>
            <p:cNvGrpSpPr/>
            <p:nvPr/>
          </p:nvGrpSpPr>
          <p:grpSpPr>
            <a:xfrm>
              <a:off x="4857750" y="95250"/>
              <a:ext cx="114300" cy="114300"/>
              <a:chOff x="0" y="0"/>
              <a:chExt cx="114300" cy="114300"/>
            </a:xfrm>
          </p:grpSpPr>
          <p:cxnSp>
            <p:nvCxnSpPr>
              <p:cNvPr id="405" name="Google Shape;405;p22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22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07" name="Google Shape;407;p22"/>
            <p:cNvSpPr txBox="1"/>
            <p:nvPr/>
          </p:nvSpPr>
          <p:spPr>
            <a:xfrm>
              <a:off x="228600" y="190500"/>
              <a:ext cx="457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EXACT-EXPONENTIAL THERMAL INTEGRATION</a:t>
              </a:r>
              <a:endParaRPr b="0" sz="1000">
                <a:solidFill>
                  <a:srgbClr val="0284C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08" name="Google Shape;408;p22"/>
            <p:cNvSpPr txBox="1"/>
            <p:nvPr/>
          </p:nvSpPr>
          <p:spPr>
            <a:xfrm>
              <a:off x="228600" y="457200"/>
              <a:ext cx="457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To update server inlet temperatures across hour-scale time steps without instability, the twin applies an analytical exponential solution:</a:t>
              </a:r>
              <a:endParaRPr b="0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409" name="Google Shape;409;p22"/>
            <p:cNvGrpSpPr/>
            <p:nvPr/>
          </p:nvGrpSpPr>
          <p:grpSpPr>
            <a:xfrm>
              <a:off x="228600" y="1000125"/>
              <a:ext cx="4591200" cy="666900"/>
              <a:chOff x="0" y="0"/>
              <a:chExt cx="4591200" cy="666900"/>
            </a:xfrm>
          </p:grpSpPr>
          <p:sp>
            <p:nvSpPr>
              <p:cNvPr id="410" name="Google Shape;410;p22"/>
              <p:cNvSpPr/>
              <p:nvPr/>
            </p:nvSpPr>
            <p:spPr>
              <a:xfrm>
                <a:off x="0" y="0"/>
                <a:ext cx="4591200" cy="666900"/>
              </a:xfrm>
              <a:prstGeom prst="roundRect">
                <a:avLst>
                  <a:gd fmla="val 571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2"/>
              <p:cNvSpPr/>
              <p:nvPr/>
            </p:nvSpPr>
            <p:spPr>
              <a:xfrm>
                <a:off x="0" y="0"/>
                <a:ext cx="666900" cy="666900"/>
              </a:xfrm>
              <a:prstGeom prst="roundRect">
                <a:avLst>
                  <a:gd fmla="val 5714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2"/>
              <p:cNvSpPr txBox="1"/>
              <p:nvPr/>
            </p:nvSpPr>
            <p:spPr>
              <a:xfrm>
                <a:off x="47625" y="238125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F172A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INLET T</a:t>
                </a:r>
                <a:endParaRPr b="0" sz="900">
                  <a:solidFill>
                    <a:srgbClr val="0F172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413" name="Google Shape;413;p22"/>
              <p:cNvSpPr txBox="1"/>
              <p:nvPr/>
            </p:nvSpPr>
            <p:spPr>
              <a:xfrm>
                <a:off x="809625" y="142875"/>
                <a:ext cx="36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Tin(t + Δt) = Tenv + (Tin(t) - Tenv) · e-Δt / τ</a:t>
                </a:r>
                <a:endParaRPr b="0" sz="12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414" name="Google Shape;414;p22"/>
            <p:cNvGrpSpPr/>
            <p:nvPr/>
          </p:nvGrpSpPr>
          <p:grpSpPr>
            <a:xfrm>
              <a:off x="228600" y="1809750"/>
              <a:ext cx="4591200" cy="666900"/>
              <a:chOff x="0" y="0"/>
              <a:chExt cx="4591200" cy="666900"/>
            </a:xfrm>
          </p:grpSpPr>
          <p:sp>
            <p:nvSpPr>
              <p:cNvPr id="415" name="Google Shape;415;p22"/>
              <p:cNvSpPr/>
              <p:nvPr/>
            </p:nvSpPr>
            <p:spPr>
              <a:xfrm>
                <a:off x="0" y="0"/>
                <a:ext cx="4591200" cy="666900"/>
              </a:xfrm>
              <a:prstGeom prst="roundRect">
                <a:avLst>
                  <a:gd fmla="val 571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2"/>
              <p:cNvSpPr/>
              <p:nvPr/>
            </p:nvSpPr>
            <p:spPr>
              <a:xfrm>
                <a:off x="0" y="0"/>
                <a:ext cx="666900" cy="666900"/>
              </a:xfrm>
              <a:prstGeom prst="roundRect">
                <a:avLst>
                  <a:gd fmla="val 5714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2"/>
              <p:cNvSpPr txBox="1"/>
              <p:nvPr/>
            </p:nvSpPr>
            <p:spPr>
              <a:xfrm>
                <a:off x="47625" y="238125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F172A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METRIC</a:t>
                </a:r>
                <a:endParaRPr b="0" sz="900">
                  <a:solidFill>
                    <a:srgbClr val="0F172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418" name="Google Shape;418;p22"/>
              <p:cNvSpPr txBox="1"/>
              <p:nvPr/>
            </p:nvSpPr>
            <p:spPr>
              <a:xfrm>
                <a:off x="809625" y="142875"/>
                <a:ext cx="36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τ = f(ηcooling) , ηcooling = g(Degradation)</a:t>
                </a:r>
                <a:endParaRPr b="0" sz="11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  <p:grpSp>
        <p:nvGrpSpPr>
          <p:cNvPr id="419" name="Google Shape;419;p22"/>
          <p:cNvGrpSpPr/>
          <p:nvPr/>
        </p:nvGrpSpPr>
        <p:grpSpPr>
          <a:xfrm>
            <a:off x="5619750" y="1714500"/>
            <a:ext cx="3143400" cy="2762400"/>
            <a:chOff x="0" y="0"/>
            <a:chExt cx="3143400" cy="2762400"/>
          </a:xfrm>
        </p:grpSpPr>
        <p:sp>
          <p:nvSpPr>
            <p:cNvPr id="420" name="Google Shape;420;p22"/>
            <p:cNvSpPr/>
            <p:nvPr/>
          </p:nvSpPr>
          <p:spPr>
            <a:xfrm>
              <a:off x="0" y="0"/>
              <a:ext cx="3143400" cy="2762400"/>
            </a:xfrm>
            <a:prstGeom prst="roundRect">
              <a:avLst>
                <a:gd fmla="val 1379" name="adj"/>
              </a:avLst>
            </a:prstGeom>
            <a:solidFill>
              <a:srgbClr val="FFF7ED"/>
            </a:solidFill>
            <a:ln cap="flat" cmpd="sng" w="9525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0" y="0"/>
              <a:ext cx="57300" cy="2762400"/>
            </a:xfrm>
            <a:prstGeom prst="roundRect">
              <a:avLst>
                <a:gd fmla="val 33333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2"/>
            <p:cNvSpPr txBox="1"/>
            <p:nvPr/>
          </p:nvSpPr>
          <p:spPr>
            <a:xfrm>
              <a:off x="228600" y="190500"/>
              <a:ext cx="2686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STABILITY ANALYSIS</a:t>
              </a:r>
              <a:endParaRPr b="0" sz="1000">
                <a:solidFill>
                  <a:srgbClr val="EA580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23" name="Google Shape;423;p22"/>
            <p:cNvSpPr txBox="1"/>
            <p:nvPr/>
          </p:nvSpPr>
          <p:spPr>
            <a:xfrm>
              <a:off x="228600" y="495300"/>
              <a:ext cx="26862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EA580C"/>
                  </a:solidFill>
                  <a:latin typeface="Open Sans"/>
                  <a:ea typeface="Open Sans"/>
                  <a:cs typeface="Open Sans"/>
                  <a:sym typeface="Open Sans"/>
                </a:rPr>
                <a:t>Time-Scale Mismatch:</a:t>
              </a:r>
              <a:endParaRPr b="1" sz="1110">
                <a:solidFill>
                  <a:srgbClr val="EA580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Simulation advances in </a:t>
              </a:r>
              <a:r>
                <a:rPr b="1" lang="en" sz="1018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hour-scale</a:t>
              </a:r>
              <a:r>
                <a:rPr b="0" lang="en" sz="1018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 time steps (Δt ≈ 3600s), while the zone thermal time constant (τ) is measured in </a:t>
              </a:r>
              <a:r>
                <a:rPr b="1" lang="en" sz="1018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seconds</a:t>
              </a:r>
              <a:r>
                <a:rPr b="0" lang="en" sz="1018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 (Δt &gt;&gt; τ).</a:t>
              </a:r>
              <a:endParaRPr b="0" sz="1018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EA580C"/>
                  </a:solidFill>
                  <a:latin typeface="Open Sans"/>
                  <a:ea typeface="Open Sans"/>
                  <a:cs typeface="Open Sans"/>
                  <a:sym typeface="Open Sans"/>
                </a:rPr>
                <a:t>Euler Instability Avoided:</a:t>
              </a:r>
              <a:endParaRPr b="1" sz="1110">
                <a:solidFill>
                  <a:srgbClr val="EA580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Standard forward Euler integration causes severe numerical oscillation and divergence. Exact-exponential integration guarantees absolute stability and accurate server inlet temperature updates.</a:t>
              </a:r>
              <a:endParaRPr b="0" sz="1018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29" name="Google Shape;429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23"/>
            <p:cNvGrpSpPr/>
            <p:nvPr/>
          </p:nvGrpSpPr>
          <p:grpSpPr>
            <a:xfrm>
              <a:off x="381000" y="4757738"/>
              <a:ext cx="8382000" cy="290513"/>
              <a:chOff x="0" y="-4762"/>
              <a:chExt cx="8382000" cy="290513"/>
            </a:xfrm>
          </p:grpSpPr>
          <p:pic>
            <p:nvPicPr>
              <p:cNvPr id="431" name="Google Shape;431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-4762"/>
                <a:ext cx="8343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2" name="Google Shape;432;p23"/>
              <p:cNvSpPr txBox="1"/>
              <p:nvPr/>
            </p:nvSpPr>
            <p:spPr>
              <a:xfrm>
                <a:off x="0" y="9525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VISHWAKARMA INSTITUTE OF TECHNOLOGY | PUNE, INDIA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433" name="Google Shape;433;p23"/>
              <p:cNvSpPr txBox="1"/>
              <p:nvPr/>
            </p:nvSpPr>
            <p:spPr>
              <a:xfrm>
                <a:off x="6477000" y="9525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PHYSICS-INFORMED DIGITAL TWIN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</p:grpSp>
      <p:grpSp>
        <p:nvGrpSpPr>
          <p:cNvPr id="434" name="Google Shape;434;p23"/>
          <p:cNvGrpSpPr/>
          <p:nvPr/>
        </p:nvGrpSpPr>
        <p:grpSpPr>
          <a:xfrm>
            <a:off x="381000" y="381000"/>
            <a:ext cx="8382000" cy="714525"/>
            <a:chOff x="0" y="0"/>
            <a:chExt cx="8382000" cy="714525"/>
          </a:xfrm>
        </p:grpSpPr>
        <p:sp>
          <p:nvSpPr>
            <p:cNvPr id="435" name="Google Shape;435;p23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Rule-Based Decision Engine &amp; Maintenance Thresholds</a:t>
              </a:r>
              <a:endParaRPr b="1" sz="2405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6" name="Google Shape;436;p23"/>
            <p:cNvSpPr txBox="1"/>
            <p:nvPr/>
          </p:nvSpPr>
          <p:spPr>
            <a:xfrm>
              <a:off x="0" y="428625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Monitors three critical signal inputs and outputs the highest priority urgency level.</a:t>
              </a:r>
              <a:endParaRPr b="0" sz="1800">
                <a:solidFill>
                  <a:srgbClr val="0284C7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437" name="Google Shape;437;p23"/>
          <p:cNvGrpSpPr/>
          <p:nvPr/>
        </p:nvGrpSpPr>
        <p:grpSpPr>
          <a:xfrm>
            <a:off x="381000" y="1190625"/>
            <a:ext cx="2600400" cy="2047800"/>
            <a:chOff x="0" y="0"/>
            <a:chExt cx="2600400" cy="2047800"/>
          </a:xfrm>
        </p:grpSpPr>
        <p:sp>
          <p:nvSpPr>
            <p:cNvPr id="438" name="Google Shape;438;p23"/>
            <p:cNvSpPr/>
            <p:nvPr/>
          </p:nvSpPr>
          <p:spPr>
            <a:xfrm>
              <a:off x="0" y="0"/>
              <a:ext cx="2600400" cy="2047800"/>
            </a:xfrm>
            <a:prstGeom prst="roundRect">
              <a:avLst>
                <a:gd fmla="val 186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9" name="Google Shape;439;p23"/>
            <p:cNvGrpSpPr/>
            <p:nvPr/>
          </p:nvGrpSpPr>
          <p:grpSpPr>
            <a:xfrm>
              <a:off x="2409825" y="76200"/>
              <a:ext cx="114300" cy="114300"/>
              <a:chOff x="0" y="0"/>
              <a:chExt cx="114300" cy="114300"/>
            </a:xfrm>
          </p:grpSpPr>
          <p:cxnSp>
            <p:nvCxnSpPr>
              <p:cNvPr id="440" name="Google Shape;440;p23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1" name="Google Shape;441;p23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42" name="Google Shape;442;p23"/>
            <p:cNvSpPr txBox="1"/>
            <p:nvPr/>
          </p:nvSpPr>
          <p:spPr>
            <a:xfrm>
              <a:off x="171450" y="171450"/>
              <a:ext cx="22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MONITORED SIGNAL 01</a:t>
              </a:r>
              <a:endParaRPr b="0" sz="1000">
                <a:solidFill>
                  <a:srgbClr val="0284C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43" name="Google Shape;443;p23"/>
            <p:cNvSpPr txBox="1"/>
            <p:nvPr/>
          </p:nvSpPr>
          <p:spPr>
            <a:xfrm>
              <a:off x="171450" y="381000"/>
              <a:ext cx="2257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Health Index</a:t>
              </a:r>
              <a:endParaRPr b="0" sz="1500">
                <a:solidFill>
                  <a:srgbClr val="0F172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pic>
          <p:nvPicPr>
            <p:cNvPr id="444" name="Google Shape;444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1450" y="700088"/>
              <a:ext cx="2247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23"/>
            <p:cNvSpPr txBox="1"/>
            <p:nvPr/>
          </p:nvSpPr>
          <p:spPr>
            <a:xfrm>
              <a:off x="171450" y="809625"/>
              <a:ext cx="2257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Warning:</a:t>
              </a:r>
              <a:r>
                <a:rPr b="0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Triggers at 30%</a:t>
              </a:r>
              <a:endParaRPr b="0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Maintenance:</a:t>
              </a:r>
              <a:r>
                <a:rPr b="0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Triggers at 60%</a:t>
              </a:r>
              <a:endParaRPr b="0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Critical:</a:t>
              </a:r>
              <a:r>
                <a:rPr b="0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Triggers at 85% severity</a:t>
              </a:r>
              <a:endParaRPr b="0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6" name="Google Shape;446;p23"/>
          <p:cNvGrpSpPr/>
          <p:nvPr/>
        </p:nvGrpSpPr>
        <p:grpSpPr>
          <a:xfrm>
            <a:off x="3267075" y="1190625"/>
            <a:ext cx="2600400" cy="2047800"/>
            <a:chOff x="0" y="0"/>
            <a:chExt cx="2600400" cy="2047800"/>
          </a:xfrm>
        </p:grpSpPr>
        <p:sp>
          <p:nvSpPr>
            <p:cNvPr id="447" name="Google Shape;447;p23"/>
            <p:cNvSpPr/>
            <p:nvPr/>
          </p:nvSpPr>
          <p:spPr>
            <a:xfrm>
              <a:off x="0" y="0"/>
              <a:ext cx="2600400" cy="2047800"/>
            </a:xfrm>
            <a:prstGeom prst="roundRect">
              <a:avLst>
                <a:gd fmla="val 1860" name="adj"/>
              </a:avLst>
            </a:prstGeom>
            <a:solidFill>
              <a:srgbClr val="FFF7ED"/>
            </a:solidFill>
            <a:ln cap="flat" cmpd="sng" w="9525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0" y="0"/>
              <a:ext cx="47700" cy="2047800"/>
            </a:xfrm>
            <a:prstGeom prst="roundRect">
              <a:avLst>
                <a:gd fmla="val 4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9" name="Google Shape;449;p23"/>
            <p:cNvGrpSpPr/>
            <p:nvPr/>
          </p:nvGrpSpPr>
          <p:grpSpPr>
            <a:xfrm>
              <a:off x="2409825" y="76200"/>
              <a:ext cx="114300" cy="114300"/>
              <a:chOff x="0" y="0"/>
              <a:chExt cx="114300" cy="114300"/>
            </a:xfrm>
          </p:grpSpPr>
          <p:cxnSp>
            <p:nvCxnSpPr>
              <p:cNvPr id="450" name="Google Shape;450;p23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1" name="Google Shape;451;p23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52" name="Google Shape;452;p23"/>
            <p:cNvSpPr txBox="1"/>
            <p:nvPr/>
          </p:nvSpPr>
          <p:spPr>
            <a:xfrm>
              <a:off x="171450" y="171450"/>
              <a:ext cx="22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MONITORED SIGNAL 02</a:t>
              </a:r>
              <a:endParaRPr b="0" sz="1000">
                <a:solidFill>
                  <a:srgbClr val="EA580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53" name="Google Shape;453;p23"/>
            <p:cNvSpPr txBox="1"/>
            <p:nvPr/>
          </p:nvSpPr>
          <p:spPr>
            <a:xfrm>
              <a:off x="171450" y="381000"/>
              <a:ext cx="2257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EA580C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Thermal Margin</a:t>
              </a:r>
              <a:endParaRPr b="0" sz="1500">
                <a:solidFill>
                  <a:srgbClr val="EA580C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pic>
          <p:nvPicPr>
            <p:cNvPr id="454" name="Google Shape;454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1450" y="700088"/>
              <a:ext cx="2247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23"/>
            <p:cNvSpPr txBox="1"/>
            <p:nvPr/>
          </p:nvSpPr>
          <p:spPr>
            <a:xfrm>
              <a:off x="171450" y="809625"/>
              <a:ext cx="2257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Warning Alert:</a:t>
              </a:r>
              <a:r>
                <a:rPr b="0" lang="en" sz="10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 Triggers at 5°C</a:t>
              </a:r>
              <a:endParaRPr b="0" sz="105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Critical Alert:</a:t>
              </a:r>
              <a:r>
                <a:rPr b="0" lang="en" sz="10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 Triggers at 1°C</a:t>
              </a:r>
              <a:endParaRPr b="0" sz="105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56" name="Google Shape;456;p23"/>
          <p:cNvGrpSpPr/>
          <p:nvPr/>
        </p:nvGrpSpPr>
        <p:grpSpPr>
          <a:xfrm>
            <a:off x="6153150" y="1190625"/>
            <a:ext cx="2610000" cy="2047800"/>
            <a:chOff x="0" y="0"/>
            <a:chExt cx="2610000" cy="2047800"/>
          </a:xfrm>
        </p:grpSpPr>
        <p:sp>
          <p:nvSpPr>
            <p:cNvPr id="457" name="Google Shape;457;p23"/>
            <p:cNvSpPr/>
            <p:nvPr/>
          </p:nvSpPr>
          <p:spPr>
            <a:xfrm>
              <a:off x="0" y="0"/>
              <a:ext cx="2610000" cy="2047800"/>
            </a:xfrm>
            <a:prstGeom prst="roundRect">
              <a:avLst>
                <a:gd fmla="val 186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8" name="Google Shape;458;p23"/>
            <p:cNvGrpSpPr/>
            <p:nvPr/>
          </p:nvGrpSpPr>
          <p:grpSpPr>
            <a:xfrm>
              <a:off x="2419350" y="76200"/>
              <a:ext cx="114300" cy="114300"/>
              <a:chOff x="0" y="0"/>
              <a:chExt cx="114300" cy="114300"/>
            </a:xfrm>
          </p:grpSpPr>
          <p:cxnSp>
            <p:nvCxnSpPr>
              <p:cNvPr id="459" name="Google Shape;459;p23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0" name="Google Shape;460;p23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61" name="Google Shape;461;p23"/>
            <p:cNvSpPr txBox="1"/>
            <p:nvPr/>
          </p:nvSpPr>
          <p:spPr>
            <a:xfrm>
              <a:off x="171450" y="171450"/>
              <a:ext cx="2267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MONITORED SIGNAL 03</a:t>
              </a:r>
              <a:endParaRPr b="0" sz="1000">
                <a:solidFill>
                  <a:srgbClr val="0284C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62" name="Google Shape;462;p23"/>
            <p:cNvSpPr txBox="1"/>
            <p:nvPr/>
          </p:nvSpPr>
          <p:spPr>
            <a:xfrm>
              <a:off x="171450" y="381000"/>
              <a:ext cx="2267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Remaining Useful Life</a:t>
              </a:r>
              <a:endParaRPr b="0" sz="1500">
                <a:solidFill>
                  <a:srgbClr val="0F172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pic>
          <p:nvPicPr>
            <p:cNvPr id="463" name="Google Shape;46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1450" y="700088"/>
              <a:ext cx="2247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4" name="Google Shape;464;p23"/>
            <p:cNvSpPr txBox="1"/>
            <p:nvPr/>
          </p:nvSpPr>
          <p:spPr>
            <a:xfrm>
              <a:off x="171450" y="809625"/>
              <a:ext cx="2267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Time-to-Failure:</a:t>
              </a:r>
              <a:r>
                <a:rPr b="0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Evaluated against specific operational limits.</a:t>
              </a:r>
              <a:endParaRPr b="0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Action:</a:t>
              </a:r>
              <a:r>
                <a:rPr b="0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Dictates exact preventive scheduling window.</a:t>
              </a:r>
              <a:endParaRPr b="0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65" name="Google Shape;465;p23"/>
          <p:cNvGrpSpPr/>
          <p:nvPr/>
        </p:nvGrpSpPr>
        <p:grpSpPr>
          <a:xfrm>
            <a:off x="381000" y="3429000"/>
            <a:ext cx="8382000" cy="1047900"/>
            <a:chOff x="0" y="0"/>
            <a:chExt cx="8382000" cy="1047900"/>
          </a:xfrm>
        </p:grpSpPr>
        <p:sp>
          <p:nvSpPr>
            <p:cNvPr id="466" name="Google Shape;466;p23"/>
            <p:cNvSpPr/>
            <p:nvPr/>
          </p:nvSpPr>
          <p:spPr>
            <a:xfrm>
              <a:off x="0" y="0"/>
              <a:ext cx="8382000" cy="10479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0" y="0"/>
              <a:ext cx="8382000" cy="1047900"/>
            </a:xfrm>
            <a:prstGeom prst="roundRect">
              <a:avLst>
                <a:gd fmla="val 5454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3"/>
            <p:cNvSpPr txBox="1"/>
            <p:nvPr/>
          </p:nvSpPr>
          <p:spPr>
            <a:xfrm>
              <a:off x="228600" y="152400"/>
              <a:ext cx="792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DECISION ENGINE ARBITRATION RULE</a:t>
              </a:r>
              <a:endParaRPr b="0" sz="1000">
                <a:solidFill>
                  <a:srgbClr val="0284C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70" name="Google Shape;470;p23"/>
            <p:cNvSpPr txBox="1"/>
            <p:nvPr/>
          </p:nvSpPr>
          <p:spPr>
            <a:xfrm>
              <a:off x="228600" y="400050"/>
              <a:ext cx="79248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The engine constantly evaluates all three signals simultaneously against fixed threshold limits and strictly outputs the </a:t>
              </a:r>
              <a:r>
                <a:rPr b="1" lang="en" sz="12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highest urgency level</a:t>
              </a:r>
              <a:r>
                <a:rPr b="0" lang="en" sz="1200">
                  <a:solidFill>
                    <a:srgbClr val="0F172A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 among them to safeguard system integrity.</a:t>
              </a:r>
              <a:endParaRPr b="0" sz="1200">
                <a:solidFill>
                  <a:srgbClr val="0F172A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6" name="Google Shape;476;p24"/>
          <p:cNvGrpSpPr/>
          <p:nvPr/>
        </p:nvGrpSpPr>
        <p:grpSpPr>
          <a:xfrm>
            <a:off x="381000" y="4757738"/>
            <a:ext cx="8382000" cy="290513"/>
            <a:chOff x="0" y="-4762"/>
            <a:chExt cx="8382000" cy="290513"/>
          </a:xfrm>
        </p:grpSpPr>
        <p:pic>
          <p:nvPicPr>
            <p:cNvPr id="477" name="Google Shape;47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-4762"/>
              <a:ext cx="834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24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VISHWAKARMA INSTITUTE OF TECHNOLOGY | PUNE, INDIA</a:t>
              </a:r>
              <a:endParaRPr b="0" sz="800">
                <a:solidFill>
                  <a:srgbClr val="47556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79" name="Google Shape;479;p24"/>
            <p:cNvSpPr txBox="1"/>
            <p:nvPr/>
          </p:nvSpPr>
          <p:spPr>
            <a:xfrm>
              <a:off x="647700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PHYSICS-INFORMED DIGITAL TWIN</a:t>
              </a:r>
              <a:endParaRPr b="0" sz="800">
                <a:solidFill>
                  <a:srgbClr val="47556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grpSp>
        <p:nvGrpSpPr>
          <p:cNvPr id="480" name="Google Shape;480;p24"/>
          <p:cNvGrpSpPr/>
          <p:nvPr/>
        </p:nvGrpSpPr>
        <p:grpSpPr>
          <a:xfrm>
            <a:off x="381000" y="333375"/>
            <a:ext cx="8382000" cy="666900"/>
            <a:chOff x="0" y="0"/>
            <a:chExt cx="8382000" cy="666900"/>
          </a:xfrm>
        </p:grpSpPr>
        <p:sp>
          <p:nvSpPr>
            <p:cNvPr id="481" name="Google Shape;481;p24"/>
            <p:cNvSpPr txBox="1"/>
            <p:nvPr/>
          </p:nvSpPr>
          <p:spPr>
            <a:xfrm>
              <a:off x="0" y="0"/>
              <a:ext cx="838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Experimental Results &amp; Maintenance Policy Comparison</a:t>
              </a:r>
              <a:endParaRPr b="1" sz="222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" name="Google Shape;482;p24"/>
            <p:cNvSpPr txBox="1"/>
            <p:nvPr/>
          </p:nvSpPr>
          <p:spPr>
            <a:xfrm>
              <a:off x="0" y="3810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284C7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Systematic evaluation of three maintenance policies over identical severe-degradation trajectories.</a:t>
              </a:r>
              <a:endParaRPr b="0" sz="1200">
                <a:solidFill>
                  <a:srgbClr val="0284C7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</p:grpSp>
      <p:grpSp>
        <p:nvGrpSpPr>
          <p:cNvPr id="483" name="Google Shape;483;p24"/>
          <p:cNvGrpSpPr/>
          <p:nvPr/>
        </p:nvGrpSpPr>
        <p:grpSpPr>
          <a:xfrm>
            <a:off x="381000" y="1190625"/>
            <a:ext cx="2571900" cy="2238300"/>
            <a:chOff x="0" y="0"/>
            <a:chExt cx="2571900" cy="2238300"/>
          </a:xfrm>
        </p:grpSpPr>
        <p:sp>
          <p:nvSpPr>
            <p:cNvPr id="484" name="Google Shape;484;p24"/>
            <p:cNvSpPr/>
            <p:nvPr/>
          </p:nvSpPr>
          <p:spPr>
            <a:xfrm>
              <a:off x="0" y="0"/>
              <a:ext cx="2571900" cy="2238300"/>
            </a:xfrm>
            <a:prstGeom prst="roundRect">
              <a:avLst>
                <a:gd fmla="val 1702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5" name="Google Shape;485;p24"/>
            <p:cNvCxnSpPr/>
            <p:nvPr/>
          </p:nvCxnSpPr>
          <p:spPr>
            <a:xfrm>
              <a:off x="0" y="0"/>
              <a:ext cx="25719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6" name="Google Shape;486;p24"/>
            <p:cNvSpPr txBox="1"/>
            <p:nvPr/>
          </p:nvSpPr>
          <p:spPr>
            <a:xfrm>
              <a:off x="152400" y="152400"/>
              <a:ext cx="22671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POLICY 01</a:t>
              </a:r>
              <a:endParaRPr b="0" sz="900">
                <a:solidFill>
                  <a:srgbClr val="64748B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87" name="Google Shape;487;p24"/>
            <p:cNvSpPr txBox="1"/>
            <p:nvPr/>
          </p:nvSpPr>
          <p:spPr>
            <a:xfrm>
              <a:off x="152400" y="342900"/>
              <a:ext cx="2267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No-Intervention</a:t>
              </a:r>
              <a:endParaRPr b="0" sz="1500">
                <a:solidFill>
                  <a:srgbClr val="0F172A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488" name="Google Shape;488;p24"/>
            <p:cNvSpPr txBox="1"/>
            <p:nvPr/>
          </p:nvSpPr>
          <p:spPr>
            <a:xfrm>
              <a:off x="152400" y="666750"/>
              <a:ext cx="2267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Operational Mode:</a:t>
              </a:r>
              <a:r>
                <a:rPr b="0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Passive / Unmonitored baseline.</a:t>
              </a:r>
              <a:endParaRPr b="0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Intervention Logic:</a:t>
              </a:r>
              <a:r>
                <a:rPr b="0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Zero maintenance or mitigation active during degradation.</a:t>
              </a:r>
              <a:endParaRPr b="0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Outcome:</a:t>
              </a:r>
              <a:r>
                <a:rPr b="0" lang="en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Severe-degradation trajectory runs unchecked to failure.</a:t>
              </a:r>
              <a:endParaRPr b="0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9" name="Google Shape;489;p24"/>
          <p:cNvGrpSpPr/>
          <p:nvPr/>
        </p:nvGrpSpPr>
        <p:grpSpPr>
          <a:xfrm>
            <a:off x="3286125" y="1190625"/>
            <a:ext cx="2571900" cy="2238300"/>
            <a:chOff x="0" y="0"/>
            <a:chExt cx="2571900" cy="2238300"/>
          </a:xfrm>
        </p:grpSpPr>
        <p:sp>
          <p:nvSpPr>
            <p:cNvPr id="490" name="Google Shape;490;p24"/>
            <p:cNvSpPr/>
            <p:nvPr/>
          </p:nvSpPr>
          <p:spPr>
            <a:xfrm>
              <a:off x="0" y="0"/>
              <a:ext cx="2571900" cy="2238300"/>
            </a:xfrm>
            <a:prstGeom prst="roundRect">
              <a:avLst>
                <a:gd fmla="val 1702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1" name="Google Shape;491;p24"/>
            <p:cNvCxnSpPr/>
            <p:nvPr/>
          </p:nvCxnSpPr>
          <p:spPr>
            <a:xfrm>
              <a:off x="0" y="0"/>
              <a:ext cx="25719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2" name="Google Shape;492;p24"/>
            <p:cNvSpPr txBox="1"/>
            <p:nvPr/>
          </p:nvSpPr>
          <p:spPr>
            <a:xfrm>
              <a:off x="152400" y="152400"/>
              <a:ext cx="22671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POLICY 02</a:t>
              </a:r>
              <a:endParaRPr b="0" sz="900">
                <a:solidFill>
                  <a:srgbClr val="0284C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93" name="Google Shape;493;p24"/>
            <p:cNvSpPr txBox="1"/>
            <p:nvPr/>
          </p:nvSpPr>
          <p:spPr>
            <a:xfrm>
              <a:off x="152400" y="342900"/>
              <a:ext cx="2267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Reactive Policy</a:t>
              </a:r>
              <a:endParaRPr b="0" sz="1500">
                <a:solidFill>
                  <a:srgbClr val="0284C7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494" name="Google Shape;494;p24"/>
            <p:cNvSpPr txBox="1"/>
            <p:nvPr/>
          </p:nvSpPr>
          <p:spPr>
            <a:xfrm>
              <a:off x="152400" y="666750"/>
              <a:ext cx="2267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Operational Mode:</a:t>
              </a:r>
              <a:r>
                <a:rPr b="0" lang="en" sz="971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Threshold-based response.</a:t>
              </a:r>
              <a:endParaRPr b="0" sz="97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Intervention Logic:</a:t>
              </a:r>
              <a:r>
                <a:rPr b="0" lang="en" sz="971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Intervenes only after the safe server temperature limit is violated.</a:t>
              </a:r>
              <a:endParaRPr b="0" sz="97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Outcome:</a:t>
              </a:r>
              <a:r>
                <a:rPr b="0" lang="en" sz="971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Corrective action delayed until after thermal limits are breached.</a:t>
              </a:r>
              <a:endParaRPr b="0" sz="97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95" name="Google Shape;495;p24"/>
          <p:cNvGrpSpPr/>
          <p:nvPr/>
        </p:nvGrpSpPr>
        <p:grpSpPr>
          <a:xfrm>
            <a:off x="6191250" y="1190625"/>
            <a:ext cx="2571900" cy="2238300"/>
            <a:chOff x="0" y="0"/>
            <a:chExt cx="2571900" cy="2238300"/>
          </a:xfrm>
        </p:grpSpPr>
        <p:sp>
          <p:nvSpPr>
            <p:cNvPr id="496" name="Google Shape;496;p24"/>
            <p:cNvSpPr/>
            <p:nvPr/>
          </p:nvSpPr>
          <p:spPr>
            <a:xfrm>
              <a:off x="0" y="0"/>
              <a:ext cx="2571900" cy="2238300"/>
            </a:xfrm>
            <a:prstGeom prst="roundRect">
              <a:avLst>
                <a:gd fmla="val 1702" name="adj"/>
              </a:avLst>
            </a:prstGeom>
            <a:solidFill>
              <a:srgbClr val="FFF7ED"/>
            </a:solidFill>
            <a:ln cap="flat" cmpd="sng" w="9525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7" name="Google Shape;497;p24"/>
            <p:cNvCxnSpPr/>
            <p:nvPr/>
          </p:nvCxnSpPr>
          <p:spPr>
            <a:xfrm>
              <a:off x="0" y="0"/>
              <a:ext cx="25719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98" name="Google Shape;498;p24"/>
            <p:cNvGrpSpPr/>
            <p:nvPr/>
          </p:nvGrpSpPr>
          <p:grpSpPr>
            <a:xfrm>
              <a:off x="2381250" y="76200"/>
              <a:ext cx="114300" cy="114300"/>
              <a:chOff x="0" y="0"/>
              <a:chExt cx="114300" cy="114300"/>
            </a:xfrm>
          </p:grpSpPr>
          <p:cxnSp>
            <p:nvCxnSpPr>
              <p:cNvPr id="499" name="Google Shape;499;p24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24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01" name="Google Shape;501;p24"/>
            <p:cNvSpPr txBox="1"/>
            <p:nvPr/>
          </p:nvSpPr>
          <p:spPr>
            <a:xfrm>
              <a:off x="152400" y="152400"/>
              <a:ext cx="22671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POLICY 03 • PROACTIVE</a:t>
              </a:r>
              <a:endParaRPr b="0" sz="900">
                <a:solidFill>
                  <a:srgbClr val="EA580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502" name="Google Shape;502;p24"/>
            <p:cNvSpPr txBox="1"/>
            <p:nvPr/>
          </p:nvSpPr>
          <p:spPr>
            <a:xfrm>
              <a:off x="152400" y="342900"/>
              <a:ext cx="2267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EA580C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Predictive Policy</a:t>
              </a:r>
              <a:endParaRPr b="0" sz="1500">
                <a:solidFill>
                  <a:srgbClr val="EA580C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03" name="Google Shape;503;p24"/>
            <p:cNvSpPr txBox="1"/>
            <p:nvPr/>
          </p:nvSpPr>
          <p:spPr>
            <a:xfrm>
              <a:off x="152400" y="666750"/>
              <a:ext cx="2267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Operational Mode:</a:t>
              </a:r>
              <a:r>
                <a:rPr b="0" lang="en" sz="971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 Prognostics-driven mitigation.</a:t>
              </a:r>
              <a:endParaRPr b="0" sz="97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Intervention Logic:</a:t>
              </a:r>
              <a:r>
                <a:rPr b="0" lang="en" sz="971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 Intervenes based on early-warning thresholds from Health Index, RUL, or thermal margin.</a:t>
              </a:r>
              <a:endParaRPr b="0" sz="97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Outcome:</a:t>
              </a:r>
              <a:r>
                <a:rPr b="0" lang="en" sz="971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 Proactive intervention executed prior to limit breach.</a:t>
              </a:r>
              <a:endParaRPr b="0" sz="97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4" name="Google Shape;504;p24"/>
          <p:cNvGrpSpPr/>
          <p:nvPr/>
        </p:nvGrpSpPr>
        <p:grpSpPr>
          <a:xfrm>
            <a:off x="381000" y="3619500"/>
            <a:ext cx="8382000" cy="904800"/>
            <a:chOff x="0" y="0"/>
            <a:chExt cx="8382000" cy="904800"/>
          </a:xfrm>
        </p:grpSpPr>
        <p:sp>
          <p:nvSpPr>
            <p:cNvPr id="505" name="Google Shape;505;p24"/>
            <p:cNvSpPr/>
            <p:nvPr/>
          </p:nvSpPr>
          <p:spPr>
            <a:xfrm>
              <a:off x="0" y="0"/>
              <a:ext cx="8382000" cy="904800"/>
            </a:xfrm>
            <a:prstGeom prst="roundRect">
              <a:avLst>
                <a:gd fmla="val 4210" name="adj"/>
              </a:avLst>
            </a:prstGeom>
            <a:solidFill>
              <a:srgbClr val="FFF7ED"/>
            </a:solidFill>
            <a:ln cap="flat" cmpd="sng" w="9525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0" y="0"/>
              <a:ext cx="57300" cy="904800"/>
            </a:xfrm>
            <a:prstGeom prst="roundRect">
              <a:avLst>
                <a:gd fmla="val 33333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7" name="Google Shape;507;p24"/>
            <p:cNvGrpSpPr/>
            <p:nvPr/>
          </p:nvGrpSpPr>
          <p:grpSpPr>
            <a:xfrm>
              <a:off x="8191500" y="95250"/>
              <a:ext cx="114300" cy="114300"/>
              <a:chOff x="0" y="0"/>
              <a:chExt cx="114300" cy="114300"/>
            </a:xfrm>
          </p:grpSpPr>
          <p:cxnSp>
            <p:nvCxnSpPr>
              <p:cNvPr id="508" name="Google Shape;508;p24"/>
              <p:cNvCxnSpPr/>
              <p:nvPr/>
            </p:nvCxnSpPr>
            <p:spPr>
              <a:xfrm>
                <a:off x="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24"/>
              <p:cNvCxnSpPr/>
              <p:nvPr/>
            </p:nvCxnSpPr>
            <p:spPr>
              <a:xfrm>
                <a:off x="57150" y="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10" name="Google Shape;510;p24"/>
            <p:cNvSpPr txBox="1"/>
            <p:nvPr/>
          </p:nvSpPr>
          <p:spPr>
            <a:xfrm>
              <a:off x="228600" y="133350"/>
              <a:ext cx="7905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KEY EXPERIMENTAL FINDING &amp; LEAD-TIME EVALUATION</a:t>
              </a:r>
              <a:endParaRPr b="0" sz="900">
                <a:solidFill>
                  <a:srgbClr val="EA580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511" name="Google Shape;511;p24"/>
            <p:cNvSpPr txBox="1"/>
            <p:nvPr/>
          </p:nvSpPr>
          <p:spPr>
            <a:xfrm>
              <a:off x="228600" y="342900"/>
              <a:ext cx="7905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By measuring the early-warning lead time directly on common trajectories, the predictive policy successfully demonstrated proactive intervention before thermal limits were breached.</a:t>
              </a:r>
              <a:endParaRPr b="0" sz="1200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17" name="Google Shape;517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8" name="Google Shape;518;p25"/>
            <p:cNvGrpSpPr/>
            <p:nvPr/>
          </p:nvGrpSpPr>
          <p:grpSpPr>
            <a:xfrm>
              <a:off x="381000" y="4757738"/>
              <a:ext cx="8382000" cy="290513"/>
              <a:chOff x="0" y="-4762"/>
              <a:chExt cx="8382000" cy="290513"/>
            </a:xfrm>
          </p:grpSpPr>
          <p:pic>
            <p:nvPicPr>
              <p:cNvPr id="519" name="Google Shape;519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-4762"/>
                <a:ext cx="8343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0" name="Google Shape;520;p25"/>
              <p:cNvSpPr txBox="1"/>
              <p:nvPr/>
            </p:nvSpPr>
            <p:spPr>
              <a:xfrm>
                <a:off x="0" y="9525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VISHWAKARMA INSTITUTE OF TECHNOLOGY | PUNE, INDIA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521" name="Google Shape;521;p25"/>
              <p:cNvSpPr txBox="1"/>
              <p:nvPr/>
            </p:nvSpPr>
            <p:spPr>
              <a:xfrm>
                <a:off x="6477000" y="9525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755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PHYSICS-INFORMED DIGITAL TWIN</a:t>
                </a:r>
                <a:endParaRPr b="0" sz="80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</p:grpSp>
      <p:sp>
        <p:nvSpPr>
          <p:cNvPr id="522" name="Google Shape;522;p25"/>
          <p:cNvSpPr txBox="1"/>
          <p:nvPr/>
        </p:nvSpPr>
        <p:spPr>
          <a:xfrm>
            <a:off x="381000" y="3810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Summary, Research Limitations &amp; Future Work</a:t>
            </a:r>
            <a:endParaRPr b="1" sz="2405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23" name="Google Shape;523;p25"/>
          <p:cNvGrpSpPr/>
          <p:nvPr/>
        </p:nvGrpSpPr>
        <p:grpSpPr>
          <a:xfrm>
            <a:off x="381000" y="952500"/>
            <a:ext cx="3905400" cy="3372000"/>
            <a:chOff x="0" y="0"/>
            <a:chExt cx="3905400" cy="3372000"/>
          </a:xfrm>
        </p:grpSpPr>
        <p:grpSp>
          <p:nvGrpSpPr>
            <p:cNvPr id="524" name="Google Shape;524;p25"/>
            <p:cNvGrpSpPr/>
            <p:nvPr/>
          </p:nvGrpSpPr>
          <p:grpSpPr>
            <a:xfrm>
              <a:off x="0" y="0"/>
              <a:ext cx="3905400" cy="1467000"/>
              <a:chOff x="0" y="0"/>
              <a:chExt cx="3905400" cy="1467000"/>
            </a:xfrm>
          </p:grpSpPr>
          <p:cxnSp>
            <p:nvCxnSpPr>
              <p:cNvPr id="525" name="Google Shape;525;p25"/>
              <p:cNvCxnSpPr/>
              <p:nvPr/>
            </p:nvCxnSpPr>
            <p:spPr>
              <a:xfrm>
                <a:off x="0" y="0"/>
                <a:ext cx="3905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26" name="Google Shape;526;p25"/>
              <p:cNvSpPr txBox="1"/>
              <p:nvPr/>
            </p:nvSpPr>
            <p:spPr>
              <a:xfrm>
                <a:off x="0" y="114300"/>
                <a:ext cx="3905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0284C7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Summary</a:t>
                </a:r>
                <a:endParaRPr b="0" sz="140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527" name="Google Shape;527;p25"/>
              <p:cNvSpPr/>
              <p:nvPr/>
            </p:nvSpPr>
            <p:spPr>
              <a:xfrm>
                <a:off x="0" y="419100"/>
                <a:ext cx="3905400" cy="10479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5"/>
              <p:cNvSpPr txBox="1"/>
              <p:nvPr/>
            </p:nvSpPr>
            <p:spPr>
              <a:xfrm>
                <a:off x="152400" y="571500"/>
                <a:ext cx="36006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We successfully developed a physics-informed digital twin that links multimodal fault diagnosis to thermal consequences in data centers.</a:t>
                </a:r>
                <a:endParaRPr b="0" sz="12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29" name="Google Shape;529;p25"/>
            <p:cNvGrpSpPr/>
            <p:nvPr/>
          </p:nvGrpSpPr>
          <p:grpSpPr>
            <a:xfrm>
              <a:off x="0" y="1714500"/>
              <a:ext cx="3905400" cy="1657500"/>
              <a:chOff x="0" y="0"/>
              <a:chExt cx="3905400" cy="1657500"/>
            </a:xfrm>
          </p:grpSpPr>
          <p:cxnSp>
            <p:nvCxnSpPr>
              <p:cNvPr id="530" name="Google Shape;530;p25"/>
              <p:cNvCxnSpPr/>
              <p:nvPr/>
            </p:nvCxnSpPr>
            <p:spPr>
              <a:xfrm>
                <a:off x="0" y="0"/>
                <a:ext cx="3905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EA580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31" name="Google Shape;531;p25"/>
              <p:cNvSpPr txBox="1"/>
              <p:nvPr/>
            </p:nvSpPr>
            <p:spPr>
              <a:xfrm>
                <a:off x="0" y="114300"/>
                <a:ext cx="3905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EA580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Research Limitations</a:t>
                </a:r>
                <a:endParaRPr b="0" sz="1400">
                  <a:solidFill>
                    <a:srgbClr val="EA580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grpSp>
            <p:nvGrpSpPr>
              <p:cNvPr id="532" name="Google Shape;532;p25"/>
              <p:cNvGrpSpPr/>
              <p:nvPr/>
            </p:nvGrpSpPr>
            <p:grpSpPr>
              <a:xfrm>
                <a:off x="0" y="419100"/>
                <a:ext cx="3905400" cy="1238400"/>
                <a:chOff x="0" y="0"/>
                <a:chExt cx="3905400" cy="1238400"/>
              </a:xfrm>
            </p:grpSpPr>
            <p:sp>
              <p:nvSpPr>
                <p:cNvPr id="533" name="Google Shape;533;p25"/>
                <p:cNvSpPr/>
                <p:nvPr/>
              </p:nvSpPr>
              <p:spPr>
                <a:xfrm>
                  <a:off x="0" y="0"/>
                  <a:ext cx="3905400" cy="1238400"/>
                </a:xfrm>
                <a:prstGeom prst="roundRect">
                  <a:avLst>
                    <a:gd fmla="val 3076" name="adj"/>
                  </a:avLst>
                </a:prstGeom>
                <a:solidFill>
                  <a:srgbClr val="FFF7ED"/>
                </a:solidFill>
                <a:ln cap="flat" cmpd="sng" w="9525">
                  <a:solidFill>
                    <a:srgbClr val="EA580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" name="Google Shape;534;p25"/>
                <p:cNvSpPr/>
                <p:nvPr/>
              </p:nvSpPr>
              <p:spPr>
                <a:xfrm>
                  <a:off x="0" y="0"/>
                  <a:ext cx="57300" cy="1238400"/>
                </a:xfrm>
                <a:prstGeom prst="roundRect">
                  <a:avLst>
                    <a:gd fmla="val 33333" name="adj"/>
                  </a:avLst>
                </a:prstGeom>
                <a:solidFill>
                  <a:srgbClr val="EA580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5" name="Google Shape;535;p25"/>
                <p:cNvSpPr txBox="1"/>
                <p:nvPr/>
              </p:nvSpPr>
              <p:spPr>
                <a:xfrm>
                  <a:off x="190500" y="152400"/>
                  <a:ext cx="3524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EA580C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rPr>
                    <a:t>SYNTHETIC DATA BOUNDARY</a:t>
                  </a:r>
                  <a:endParaRPr b="0" sz="900">
                    <a:solidFill>
                      <a:srgbClr val="EA580C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endParaRPr>
                </a:p>
              </p:txBody>
            </p:sp>
            <p:sp>
              <p:nvSpPr>
                <p:cNvPr id="536" name="Google Shape;536;p25"/>
                <p:cNvSpPr txBox="1"/>
                <p:nvPr/>
              </p:nvSpPr>
              <p:spPr>
                <a:xfrm>
                  <a:off x="190500" y="381000"/>
                  <a:ext cx="3524400" cy="70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10">
                      <a:solidFill>
                        <a:srgbClr val="0F172A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All results are derived from synthetic data using reduced-order surrogate models, without experimental validation against physical equipment or CFD.</a:t>
                  </a:r>
                  <a:endParaRPr b="0" sz="111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  <p:pic>
        <p:nvPicPr>
          <p:cNvPr id="537" name="Google Shape;5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8" y="952500"/>
            <a:ext cx="9600" cy="352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8" name="Google Shape;538;p25"/>
          <p:cNvGrpSpPr/>
          <p:nvPr/>
        </p:nvGrpSpPr>
        <p:grpSpPr>
          <a:xfrm>
            <a:off x="4514850" y="895350"/>
            <a:ext cx="114300" cy="114300"/>
            <a:chOff x="0" y="0"/>
            <a:chExt cx="114300" cy="114300"/>
          </a:xfrm>
        </p:grpSpPr>
        <p:cxnSp>
          <p:nvCxnSpPr>
            <p:cNvPr id="539" name="Google Shape;539;p25"/>
            <p:cNvCxnSpPr/>
            <p:nvPr/>
          </p:nvCxnSpPr>
          <p:spPr>
            <a:xfrm>
              <a:off x="0" y="5715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0" name="Google Shape;540;p25"/>
            <p:cNvCxnSpPr/>
            <p:nvPr/>
          </p:nvCxnSpPr>
          <p:spPr>
            <a:xfrm>
              <a:off x="57150" y="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1" name="Google Shape;541;p25"/>
          <p:cNvGrpSpPr/>
          <p:nvPr/>
        </p:nvGrpSpPr>
        <p:grpSpPr>
          <a:xfrm>
            <a:off x="4514850" y="4419600"/>
            <a:ext cx="114300" cy="114300"/>
            <a:chOff x="0" y="0"/>
            <a:chExt cx="114300" cy="114300"/>
          </a:xfrm>
        </p:grpSpPr>
        <p:cxnSp>
          <p:nvCxnSpPr>
            <p:cNvPr id="542" name="Google Shape;542;p25"/>
            <p:cNvCxnSpPr/>
            <p:nvPr/>
          </p:nvCxnSpPr>
          <p:spPr>
            <a:xfrm>
              <a:off x="0" y="5715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25"/>
            <p:cNvCxnSpPr/>
            <p:nvPr/>
          </p:nvCxnSpPr>
          <p:spPr>
            <a:xfrm>
              <a:off x="57150" y="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4" name="Google Shape;544;p25"/>
          <p:cNvGrpSpPr/>
          <p:nvPr/>
        </p:nvGrpSpPr>
        <p:grpSpPr>
          <a:xfrm>
            <a:off x="4857750" y="952500"/>
            <a:ext cx="3905400" cy="3505200"/>
            <a:chOff x="0" y="0"/>
            <a:chExt cx="3905400" cy="3505200"/>
          </a:xfrm>
        </p:grpSpPr>
        <p:cxnSp>
          <p:nvCxnSpPr>
            <p:cNvPr id="545" name="Google Shape;545;p25"/>
            <p:cNvCxnSpPr/>
            <p:nvPr/>
          </p:nvCxnSpPr>
          <p:spPr>
            <a:xfrm>
              <a:off x="0" y="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6" name="Google Shape;546;p25"/>
            <p:cNvSpPr txBox="1"/>
            <p:nvPr/>
          </p:nvSpPr>
          <p:spPr>
            <a:xfrm>
              <a:off x="0" y="114300"/>
              <a:ext cx="3905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284C7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Future Work</a:t>
              </a:r>
              <a:endParaRPr b="0" sz="1400">
                <a:solidFill>
                  <a:srgbClr val="0284C7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grpSp>
          <p:nvGrpSpPr>
            <p:cNvPr id="547" name="Google Shape;547;p25"/>
            <p:cNvGrpSpPr/>
            <p:nvPr/>
          </p:nvGrpSpPr>
          <p:grpSpPr>
            <a:xfrm>
              <a:off x="0" y="419100"/>
              <a:ext cx="3905400" cy="952500"/>
              <a:chOff x="0" y="0"/>
              <a:chExt cx="3905400" cy="952500"/>
            </a:xfrm>
          </p:grpSpPr>
          <p:sp>
            <p:nvSpPr>
              <p:cNvPr id="548" name="Google Shape;548;p25"/>
              <p:cNvSpPr/>
              <p:nvPr/>
            </p:nvSpPr>
            <p:spPr>
              <a:xfrm>
                <a:off x="0" y="0"/>
                <a:ext cx="3905400" cy="952500"/>
              </a:xfrm>
              <a:prstGeom prst="roundRect">
                <a:avLst>
                  <a:gd fmla="val 4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49" name="Google Shape;549;p25"/>
              <p:cNvGrpSpPr/>
              <p:nvPr/>
            </p:nvGrpSpPr>
            <p:grpSpPr>
              <a:xfrm>
                <a:off x="3714750" y="76200"/>
                <a:ext cx="114300" cy="114300"/>
                <a:chOff x="0" y="0"/>
                <a:chExt cx="114300" cy="114300"/>
              </a:xfrm>
            </p:grpSpPr>
            <p:cxnSp>
              <p:nvCxnSpPr>
                <p:cNvPr id="550" name="Google Shape;550;p25"/>
                <p:cNvCxnSpPr/>
                <p:nvPr/>
              </p:nvCxnSpPr>
              <p:spPr>
                <a:xfrm>
                  <a:off x="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1" name="Google Shape;551;p25"/>
                <p:cNvCxnSpPr/>
                <p:nvPr/>
              </p:nvCxnSpPr>
              <p:spPr>
                <a:xfrm>
                  <a:off x="57150" y="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52" name="Google Shape;552;p25"/>
              <p:cNvSpPr txBox="1"/>
              <p:nvPr/>
            </p:nvSpPr>
            <p:spPr>
              <a:xfrm>
                <a:off x="152400" y="133350"/>
                <a:ext cx="3429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EA580C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ROADMAP ITEM 01</a:t>
                </a:r>
                <a:endParaRPr b="0" sz="9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553" name="Google Shape;553;p25"/>
              <p:cNvSpPr txBox="1"/>
              <p:nvPr/>
            </p:nvSpPr>
            <p:spPr>
              <a:xfrm>
                <a:off x="152400" y="342900"/>
                <a:ext cx="3600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Implement a learned sequence-model RUL estimator (e.g., Temporal Convolutional Networks).</a:t>
                </a:r>
                <a:endParaRPr b="0" sz="111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54" name="Google Shape;554;p25"/>
            <p:cNvGrpSpPr/>
            <p:nvPr/>
          </p:nvGrpSpPr>
          <p:grpSpPr>
            <a:xfrm>
              <a:off x="0" y="1485900"/>
              <a:ext cx="3905400" cy="952500"/>
              <a:chOff x="0" y="0"/>
              <a:chExt cx="3905400" cy="952500"/>
            </a:xfrm>
          </p:grpSpPr>
          <p:sp>
            <p:nvSpPr>
              <p:cNvPr id="555" name="Google Shape;555;p25"/>
              <p:cNvSpPr/>
              <p:nvPr/>
            </p:nvSpPr>
            <p:spPr>
              <a:xfrm>
                <a:off x="0" y="0"/>
                <a:ext cx="3905400" cy="952500"/>
              </a:xfrm>
              <a:prstGeom prst="roundRect">
                <a:avLst>
                  <a:gd fmla="val 4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56" name="Google Shape;556;p25"/>
              <p:cNvGrpSpPr/>
              <p:nvPr/>
            </p:nvGrpSpPr>
            <p:grpSpPr>
              <a:xfrm>
                <a:off x="3714750" y="76200"/>
                <a:ext cx="114300" cy="114300"/>
                <a:chOff x="0" y="0"/>
                <a:chExt cx="114300" cy="114300"/>
              </a:xfrm>
            </p:grpSpPr>
            <p:cxnSp>
              <p:nvCxnSpPr>
                <p:cNvPr id="557" name="Google Shape;557;p25"/>
                <p:cNvCxnSpPr/>
                <p:nvPr/>
              </p:nvCxnSpPr>
              <p:spPr>
                <a:xfrm>
                  <a:off x="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8" name="Google Shape;558;p25"/>
                <p:cNvCxnSpPr/>
                <p:nvPr/>
              </p:nvCxnSpPr>
              <p:spPr>
                <a:xfrm>
                  <a:off x="57150" y="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59" name="Google Shape;559;p25"/>
              <p:cNvSpPr txBox="1"/>
              <p:nvPr/>
            </p:nvSpPr>
            <p:spPr>
              <a:xfrm>
                <a:off x="152400" y="133350"/>
                <a:ext cx="3429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EA580C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ROADMAP ITEM 02</a:t>
                </a:r>
                <a:endParaRPr b="0" sz="9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560" name="Google Shape;560;p25"/>
              <p:cNvSpPr txBox="1"/>
              <p:nvPr/>
            </p:nvSpPr>
            <p:spPr>
              <a:xfrm>
                <a:off x="152400" y="342900"/>
                <a:ext cx="3600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Expand the physics-residual feature set.</a:t>
                </a:r>
                <a:endParaRPr b="0" sz="12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61" name="Google Shape;561;p25"/>
            <p:cNvGrpSpPr/>
            <p:nvPr/>
          </p:nvGrpSpPr>
          <p:grpSpPr>
            <a:xfrm>
              <a:off x="0" y="2552700"/>
              <a:ext cx="3905400" cy="952500"/>
              <a:chOff x="0" y="0"/>
              <a:chExt cx="3905400" cy="952500"/>
            </a:xfrm>
          </p:grpSpPr>
          <p:sp>
            <p:nvSpPr>
              <p:cNvPr id="562" name="Google Shape;562;p25"/>
              <p:cNvSpPr/>
              <p:nvPr/>
            </p:nvSpPr>
            <p:spPr>
              <a:xfrm>
                <a:off x="0" y="0"/>
                <a:ext cx="3905400" cy="952500"/>
              </a:xfrm>
              <a:prstGeom prst="roundRect">
                <a:avLst>
                  <a:gd fmla="val 4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3" name="Google Shape;563;p25"/>
              <p:cNvGrpSpPr/>
              <p:nvPr/>
            </p:nvGrpSpPr>
            <p:grpSpPr>
              <a:xfrm>
                <a:off x="3714750" y="76200"/>
                <a:ext cx="114300" cy="114300"/>
                <a:chOff x="0" y="0"/>
                <a:chExt cx="114300" cy="114300"/>
              </a:xfrm>
            </p:grpSpPr>
            <p:cxnSp>
              <p:nvCxnSpPr>
                <p:cNvPr id="564" name="Google Shape;564;p25"/>
                <p:cNvCxnSpPr/>
                <p:nvPr/>
              </p:nvCxnSpPr>
              <p:spPr>
                <a:xfrm>
                  <a:off x="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5" name="Google Shape;565;p25"/>
                <p:cNvCxnSpPr/>
                <p:nvPr/>
              </p:nvCxnSpPr>
              <p:spPr>
                <a:xfrm>
                  <a:off x="57150" y="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0284C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66" name="Google Shape;566;p25"/>
              <p:cNvSpPr txBox="1"/>
              <p:nvPr/>
            </p:nvSpPr>
            <p:spPr>
              <a:xfrm>
                <a:off x="152400" y="133350"/>
                <a:ext cx="3429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EA580C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ROADMAP ITEM 03</a:t>
                </a:r>
                <a:endParaRPr b="0" sz="900">
                  <a:solidFill>
                    <a:srgbClr val="EA580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567" name="Google Shape;567;p25"/>
              <p:cNvSpPr txBox="1"/>
              <p:nvPr/>
            </p:nvSpPr>
            <p:spPr>
              <a:xfrm>
                <a:off x="152400" y="342900"/>
                <a:ext cx="3600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Validate the framework on run-to-failure data from physical machinery.</a:t>
                </a:r>
                <a:endParaRPr b="0" sz="12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